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59" r:id="rId7"/>
    <p:sldId id="260" r:id="rId8"/>
    <p:sldId id="262" r:id="rId9"/>
    <p:sldId id="263" r:id="rId10"/>
    <p:sldId id="261" r:id="rId11"/>
    <p:sldId id="265" r:id="rId12"/>
    <p:sldId id="264" r:id="rId13"/>
    <p:sldId id="266" r:id="rId14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2D2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5FEEE2-6AA1-41AC-8680-A21C57AF05BE}" v="1043" dt="2020-02-06T18:55:19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6" autoAdjust="0"/>
  </p:normalViewPr>
  <p:slideViewPr>
    <p:cSldViewPr snapToGrid="0">
      <p:cViewPr>
        <p:scale>
          <a:sx n="100" d="100"/>
          <a:sy n="100" d="100"/>
        </p:scale>
        <p:origin x="1662" y="-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8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47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5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6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7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8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1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7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9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3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2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AC39B-AEF8-47A6-997C-02F38BF1750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91BD-2D30-4D1B-B388-0538F34CA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3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tangolo 4">
            <a:extLst>
              <a:ext uri="{FF2B5EF4-FFF2-40B4-BE49-F238E27FC236}">
                <a16:creationId xmlns:a16="http://schemas.microsoft.com/office/drawing/2014/main" id="{BAC6A0F5-7623-499D-9CF6-293E2B9D4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"/>
            <a:ext cx="10058400" cy="345313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550" tIns="31277" rIns="62550" bIns="31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o-RO" sz="1229" noProof="0" dirty="0">
              <a:solidFill>
                <a:srgbClr val="7030A0"/>
              </a:solidFill>
            </a:endParaRPr>
          </a:p>
        </p:txBody>
      </p:sp>
      <p:sp>
        <p:nvSpPr>
          <p:cNvPr id="44" name="CasellaDiTesto 3">
            <a:extLst>
              <a:ext uri="{FF2B5EF4-FFF2-40B4-BE49-F238E27FC236}">
                <a16:creationId xmlns:a16="http://schemas.microsoft.com/office/drawing/2014/main" id="{3887613D-DAF5-4362-A1F9-C1557151D8B6}"/>
              </a:ext>
            </a:extLst>
          </p:cNvPr>
          <p:cNvSpPr txBox="1"/>
          <p:nvPr/>
        </p:nvSpPr>
        <p:spPr>
          <a:xfrm>
            <a:off x="322880" y="637106"/>
            <a:ext cx="552677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000"/>
              </a:lnSpc>
            </a:pPr>
            <a:r>
              <a:rPr lang="ro-RO" sz="4800" kern="1500" spc="-83" noProof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Web Guard Scanner</a:t>
            </a:r>
          </a:p>
        </p:txBody>
      </p:sp>
      <p:grpSp>
        <p:nvGrpSpPr>
          <p:cNvPr id="2" name="Group 4" descr="Illustration of a globe with a safety shield in the middle">
            <a:extLst>
              <a:ext uri="{FF2B5EF4-FFF2-40B4-BE49-F238E27FC236}">
                <a16:creationId xmlns:a16="http://schemas.microsoft.com/office/drawing/2014/main" id="{91C883F8-1DAB-44BA-9BC9-592D31242B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94513" y="395288"/>
            <a:ext cx="2667000" cy="2736850"/>
            <a:chOff x="4343" y="249"/>
            <a:chExt cx="1680" cy="172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53D2F275-14FC-4A49-9038-1B6B94736BD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343" y="249"/>
              <a:ext cx="1680" cy="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9514856-5085-47DA-AC4C-FBB2CBD31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867"/>
              <a:ext cx="373" cy="493"/>
            </a:xfrm>
            <a:custGeom>
              <a:avLst/>
              <a:gdLst>
                <a:gd name="T0" fmla="*/ 0 w 79"/>
                <a:gd name="T1" fmla="*/ 0 h 102"/>
                <a:gd name="T2" fmla="*/ 2 w 79"/>
                <a:gd name="T3" fmla="*/ 25 h 102"/>
                <a:gd name="T4" fmla="*/ 3 w 79"/>
                <a:gd name="T5" fmla="*/ 51 h 102"/>
                <a:gd name="T6" fmla="*/ 2 w 79"/>
                <a:gd name="T7" fmla="*/ 76 h 102"/>
                <a:gd name="T8" fmla="*/ 0 w 79"/>
                <a:gd name="T9" fmla="*/ 102 h 102"/>
                <a:gd name="T10" fmla="*/ 72 w 79"/>
                <a:gd name="T11" fmla="*/ 102 h 102"/>
                <a:gd name="T12" fmla="*/ 79 w 79"/>
                <a:gd name="T13" fmla="*/ 51 h 102"/>
                <a:gd name="T14" fmla="*/ 72 w 79"/>
                <a:gd name="T15" fmla="*/ 0 h 102"/>
                <a:gd name="T16" fmla="*/ 0 w 79"/>
                <a:gd name="T1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2">
                  <a:moveTo>
                    <a:pt x="0" y="0"/>
                  </a:moveTo>
                  <a:cubicBezTo>
                    <a:pt x="1" y="8"/>
                    <a:pt x="2" y="17"/>
                    <a:pt x="2" y="25"/>
                  </a:cubicBezTo>
                  <a:cubicBezTo>
                    <a:pt x="3" y="34"/>
                    <a:pt x="3" y="42"/>
                    <a:pt x="3" y="51"/>
                  </a:cubicBezTo>
                  <a:cubicBezTo>
                    <a:pt x="3" y="59"/>
                    <a:pt x="3" y="68"/>
                    <a:pt x="2" y="76"/>
                  </a:cubicBezTo>
                  <a:cubicBezTo>
                    <a:pt x="2" y="85"/>
                    <a:pt x="1" y="93"/>
                    <a:pt x="0" y="102"/>
                  </a:cubicBezTo>
                  <a:cubicBezTo>
                    <a:pt x="72" y="102"/>
                    <a:pt x="72" y="102"/>
                    <a:pt x="72" y="102"/>
                  </a:cubicBezTo>
                  <a:cubicBezTo>
                    <a:pt x="77" y="85"/>
                    <a:pt x="79" y="68"/>
                    <a:pt x="79" y="51"/>
                  </a:cubicBezTo>
                  <a:cubicBezTo>
                    <a:pt x="79" y="33"/>
                    <a:pt x="77" y="16"/>
                    <a:pt x="7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C9AEDC0-2499-4FA1-94E6-8D50662C6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" y="297"/>
              <a:ext cx="486" cy="445"/>
            </a:xfrm>
            <a:custGeom>
              <a:avLst/>
              <a:gdLst>
                <a:gd name="T0" fmla="*/ 24 w 103"/>
                <a:gd name="T1" fmla="*/ 44 h 92"/>
                <a:gd name="T2" fmla="*/ 31 w 103"/>
                <a:gd name="T3" fmla="*/ 68 h 92"/>
                <a:gd name="T4" fmla="*/ 37 w 103"/>
                <a:gd name="T5" fmla="*/ 92 h 92"/>
                <a:gd name="T6" fmla="*/ 103 w 103"/>
                <a:gd name="T7" fmla="*/ 92 h 92"/>
                <a:gd name="T8" fmla="*/ 85 w 103"/>
                <a:gd name="T9" fmla="*/ 62 h 92"/>
                <a:gd name="T10" fmla="*/ 61 w 103"/>
                <a:gd name="T11" fmla="*/ 36 h 92"/>
                <a:gd name="T12" fmla="*/ 32 w 103"/>
                <a:gd name="T13" fmla="*/ 15 h 92"/>
                <a:gd name="T14" fmla="*/ 0 w 103"/>
                <a:gd name="T15" fmla="*/ 0 h 92"/>
                <a:gd name="T16" fmla="*/ 13 w 103"/>
                <a:gd name="T17" fmla="*/ 21 h 92"/>
                <a:gd name="T18" fmla="*/ 24 w 103"/>
                <a:gd name="T19" fmla="*/ 4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92">
                  <a:moveTo>
                    <a:pt x="24" y="44"/>
                  </a:moveTo>
                  <a:cubicBezTo>
                    <a:pt x="27" y="52"/>
                    <a:pt x="29" y="60"/>
                    <a:pt x="31" y="68"/>
                  </a:cubicBezTo>
                  <a:cubicBezTo>
                    <a:pt x="33" y="76"/>
                    <a:pt x="35" y="84"/>
                    <a:pt x="37" y="92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98" y="82"/>
                    <a:pt x="92" y="71"/>
                    <a:pt x="85" y="62"/>
                  </a:cubicBezTo>
                  <a:cubicBezTo>
                    <a:pt x="78" y="52"/>
                    <a:pt x="70" y="44"/>
                    <a:pt x="61" y="36"/>
                  </a:cubicBezTo>
                  <a:cubicBezTo>
                    <a:pt x="52" y="28"/>
                    <a:pt x="43" y="21"/>
                    <a:pt x="32" y="15"/>
                  </a:cubicBezTo>
                  <a:cubicBezTo>
                    <a:pt x="22" y="9"/>
                    <a:pt x="12" y="4"/>
                    <a:pt x="0" y="0"/>
                  </a:cubicBezTo>
                  <a:cubicBezTo>
                    <a:pt x="5" y="7"/>
                    <a:pt x="10" y="14"/>
                    <a:pt x="13" y="21"/>
                  </a:cubicBezTo>
                  <a:cubicBezTo>
                    <a:pt x="17" y="29"/>
                    <a:pt x="21" y="36"/>
                    <a:pt x="24" y="44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288E87-E8E1-489D-903C-192A01544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" y="1480"/>
              <a:ext cx="486" cy="445"/>
            </a:xfrm>
            <a:custGeom>
              <a:avLst/>
              <a:gdLst>
                <a:gd name="T0" fmla="*/ 85 w 103"/>
                <a:gd name="T1" fmla="*/ 31 h 92"/>
                <a:gd name="T2" fmla="*/ 61 w 103"/>
                <a:gd name="T3" fmla="*/ 57 h 92"/>
                <a:gd name="T4" fmla="*/ 32 w 103"/>
                <a:gd name="T5" fmla="*/ 77 h 92"/>
                <a:gd name="T6" fmla="*/ 0 w 103"/>
                <a:gd name="T7" fmla="*/ 92 h 92"/>
                <a:gd name="T8" fmla="*/ 13 w 103"/>
                <a:gd name="T9" fmla="*/ 71 h 92"/>
                <a:gd name="T10" fmla="*/ 24 w 103"/>
                <a:gd name="T11" fmla="*/ 48 h 92"/>
                <a:gd name="T12" fmla="*/ 31 w 103"/>
                <a:gd name="T13" fmla="*/ 24 h 92"/>
                <a:gd name="T14" fmla="*/ 37 w 103"/>
                <a:gd name="T15" fmla="*/ 0 h 92"/>
                <a:gd name="T16" fmla="*/ 103 w 103"/>
                <a:gd name="T17" fmla="*/ 0 h 92"/>
                <a:gd name="T18" fmla="*/ 85 w 103"/>
                <a:gd name="T19" fmla="*/ 31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92">
                  <a:moveTo>
                    <a:pt x="85" y="31"/>
                  </a:moveTo>
                  <a:cubicBezTo>
                    <a:pt x="78" y="40"/>
                    <a:pt x="70" y="49"/>
                    <a:pt x="61" y="57"/>
                  </a:cubicBezTo>
                  <a:cubicBezTo>
                    <a:pt x="52" y="64"/>
                    <a:pt x="43" y="71"/>
                    <a:pt x="32" y="77"/>
                  </a:cubicBezTo>
                  <a:cubicBezTo>
                    <a:pt x="22" y="84"/>
                    <a:pt x="12" y="88"/>
                    <a:pt x="0" y="92"/>
                  </a:cubicBezTo>
                  <a:cubicBezTo>
                    <a:pt x="5" y="86"/>
                    <a:pt x="10" y="79"/>
                    <a:pt x="13" y="71"/>
                  </a:cubicBezTo>
                  <a:cubicBezTo>
                    <a:pt x="17" y="64"/>
                    <a:pt x="21" y="56"/>
                    <a:pt x="24" y="48"/>
                  </a:cubicBezTo>
                  <a:cubicBezTo>
                    <a:pt x="27" y="40"/>
                    <a:pt x="29" y="32"/>
                    <a:pt x="31" y="24"/>
                  </a:cubicBezTo>
                  <a:cubicBezTo>
                    <a:pt x="33" y="16"/>
                    <a:pt x="35" y="8"/>
                    <a:pt x="37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8" y="11"/>
                    <a:pt x="92" y="21"/>
                    <a:pt x="85" y="31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A543781C-C853-45D8-A1A0-75A4BA3F1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1480"/>
              <a:ext cx="652" cy="493"/>
            </a:xfrm>
            <a:custGeom>
              <a:avLst/>
              <a:gdLst>
                <a:gd name="T0" fmla="*/ 138 w 138"/>
                <a:gd name="T1" fmla="*/ 0 h 102"/>
                <a:gd name="T2" fmla="*/ 0 w 138"/>
                <a:gd name="T3" fmla="*/ 0 h 102"/>
                <a:gd name="T4" fmla="*/ 5 w 138"/>
                <a:gd name="T5" fmla="*/ 18 h 102"/>
                <a:gd name="T6" fmla="*/ 12 w 138"/>
                <a:gd name="T7" fmla="*/ 40 h 102"/>
                <a:gd name="T8" fmla="*/ 22 w 138"/>
                <a:gd name="T9" fmla="*/ 63 h 102"/>
                <a:gd name="T10" fmla="*/ 35 w 138"/>
                <a:gd name="T11" fmla="*/ 83 h 102"/>
                <a:gd name="T12" fmla="*/ 51 w 138"/>
                <a:gd name="T13" fmla="*/ 97 h 102"/>
                <a:gd name="T14" fmla="*/ 69 w 138"/>
                <a:gd name="T15" fmla="*/ 102 h 102"/>
                <a:gd name="T16" fmla="*/ 87 w 138"/>
                <a:gd name="T17" fmla="*/ 97 h 102"/>
                <a:gd name="T18" fmla="*/ 103 w 138"/>
                <a:gd name="T19" fmla="*/ 83 h 102"/>
                <a:gd name="T20" fmla="*/ 116 w 138"/>
                <a:gd name="T21" fmla="*/ 63 h 102"/>
                <a:gd name="T22" fmla="*/ 126 w 138"/>
                <a:gd name="T23" fmla="*/ 40 h 102"/>
                <a:gd name="T24" fmla="*/ 133 w 138"/>
                <a:gd name="T25" fmla="*/ 18 h 102"/>
                <a:gd name="T26" fmla="*/ 138 w 138"/>
                <a:gd name="T2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8" h="102">
                  <a:moveTo>
                    <a:pt x="13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3" y="11"/>
                    <a:pt x="5" y="18"/>
                  </a:cubicBezTo>
                  <a:cubicBezTo>
                    <a:pt x="7" y="26"/>
                    <a:pt x="9" y="33"/>
                    <a:pt x="12" y="40"/>
                  </a:cubicBezTo>
                  <a:cubicBezTo>
                    <a:pt x="15" y="48"/>
                    <a:pt x="19" y="55"/>
                    <a:pt x="22" y="63"/>
                  </a:cubicBezTo>
                  <a:cubicBezTo>
                    <a:pt x="26" y="70"/>
                    <a:pt x="31" y="77"/>
                    <a:pt x="35" y="83"/>
                  </a:cubicBezTo>
                  <a:cubicBezTo>
                    <a:pt x="40" y="88"/>
                    <a:pt x="45" y="93"/>
                    <a:pt x="51" y="97"/>
                  </a:cubicBezTo>
                  <a:cubicBezTo>
                    <a:pt x="57" y="100"/>
                    <a:pt x="63" y="102"/>
                    <a:pt x="69" y="102"/>
                  </a:cubicBezTo>
                  <a:cubicBezTo>
                    <a:pt x="76" y="102"/>
                    <a:pt x="82" y="100"/>
                    <a:pt x="87" y="97"/>
                  </a:cubicBezTo>
                  <a:cubicBezTo>
                    <a:pt x="93" y="93"/>
                    <a:pt x="98" y="88"/>
                    <a:pt x="103" y="83"/>
                  </a:cubicBezTo>
                  <a:cubicBezTo>
                    <a:pt x="108" y="77"/>
                    <a:pt x="112" y="70"/>
                    <a:pt x="116" y="63"/>
                  </a:cubicBezTo>
                  <a:cubicBezTo>
                    <a:pt x="120" y="55"/>
                    <a:pt x="123" y="48"/>
                    <a:pt x="126" y="40"/>
                  </a:cubicBezTo>
                  <a:cubicBezTo>
                    <a:pt x="129" y="33"/>
                    <a:pt x="131" y="26"/>
                    <a:pt x="133" y="18"/>
                  </a:cubicBezTo>
                  <a:cubicBezTo>
                    <a:pt x="135" y="11"/>
                    <a:pt x="137" y="5"/>
                    <a:pt x="13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2A00F691-7773-4839-AED4-51107C60F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867"/>
              <a:ext cx="722" cy="493"/>
            </a:xfrm>
            <a:custGeom>
              <a:avLst/>
              <a:gdLst>
                <a:gd name="T0" fmla="*/ 3 w 153"/>
                <a:gd name="T1" fmla="*/ 0 h 102"/>
                <a:gd name="T2" fmla="*/ 1 w 153"/>
                <a:gd name="T3" fmla="*/ 25 h 102"/>
                <a:gd name="T4" fmla="*/ 0 w 153"/>
                <a:gd name="T5" fmla="*/ 51 h 102"/>
                <a:gd name="T6" fmla="*/ 1 w 153"/>
                <a:gd name="T7" fmla="*/ 76 h 102"/>
                <a:gd name="T8" fmla="*/ 3 w 153"/>
                <a:gd name="T9" fmla="*/ 102 h 102"/>
                <a:gd name="T10" fmla="*/ 149 w 153"/>
                <a:gd name="T11" fmla="*/ 102 h 102"/>
                <a:gd name="T12" fmla="*/ 152 w 153"/>
                <a:gd name="T13" fmla="*/ 76 h 102"/>
                <a:gd name="T14" fmla="*/ 153 w 153"/>
                <a:gd name="T15" fmla="*/ 51 h 102"/>
                <a:gd name="T16" fmla="*/ 152 w 153"/>
                <a:gd name="T17" fmla="*/ 25 h 102"/>
                <a:gd name="T18" fmla="*/ 149 w 153"/>
                <a:gd name="T19" fmla="*/ 0 h 102"/>
                <a:gd name="T20" fmla="*/ 3 w 153"/>
                <a:gd name="T2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" h="102">
                  <a:moveTo>
                    <a:pt x="3" y="0"/>
                  </a:moveTo>
                  <a:cubicBezTo>
                    <a:pt x="2" y="8"/>
                    <a:pt x="1" y="17"/>
                    <a:pt x="1" y="25"/>
                  </a:cubicBezTo>
                  <a:cubicBezTo>
                    <a:pt x="0" y="34"/>
                    <a:pt x="0" y="42"/>
                    <a:pt x="0" y="51"/>
                  </a:cubicBezTo>
                  <a:cubicBezTo>
                    <a:pt x="0" y="59"/>
                    <a:pt x="0" y="68"/>
                    <a:pt x="1" y="76"/>
                  </a:cubicBezTo>
                  <a:cubicBezTo>
                    <a:pt x="1" y="85"/>
                    <a:pt x="2" y="93"/>
                    <a:pt x="3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50" y="93"/>
                    <a:pt x="151" y="85"/>
                    <a:pt x="152" y="76"/>
                  </a:cubicBezTo>
                  <a:cubicBezTo>
                    <a:pt x="152" y="68"/>
                    <a:pt x="153" y="59"/>
                    <a:pt x="153" y="51"/>
                  </a:cubicBezTo>
                  <a:cubicBezTo>
                    <a:pt x="153" y="42"/>
                    <a:pt x="152" y="34"/>
                    <a:pt x="152" y="25"/>
                  </a:cubicBezTo>
                  <a:cubicBezTo>
                    <a:pt x="151" y="17"/>
                    <a:pt x="150" y="8"/>
                    <a:pt x="149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AD46C6BE-1634-4EA3-AB50-5520E45C9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249"/>
              <a:ext cx="652" cy="493"/>
            </a:xfrm>
            <a:custGeom>
              <a:avLst/>
              <a:gdLst>
                <a:gd name="T0" fmla="*/ 22 w 138"/>
                <a:gd name="T1" fmla="*/ 40 h 102"/>
                <a:gd name="T2" fmla="*/ 35 w 138"/>
                <a:gd name="T3" fmla="*/ 20 h 102"/>
                <a:gd name="T4" fmla="*/ 51 w 138"/>
                <a:gd name="T5" fmla="*/ 6 h 102"/>
                <a:gd name="T6" fmla="*/ 69 w 138"/>
                <a:gd name="T7" fmla="*/ 0 h 102"/>
                <a:gd name="T8" fmla="*/ 87 w 138"/>
                <a:gd name="T9" fmla="*/ 6 h 102"/>
                <a:gd name="T10" fmla="*/ 103 w 138"/>
                <a:gd name="T11" fmla="*/ 20 h 102"/>
                <a:gd name="T12" fmla="*/ 116 w 138"/>
                <a:gd name="T13" fmla="*/ 40 h 102"/>
                <a:gd name="T14" fmla="*/ 126 w 138"/>
                <a:gd name="T15" fmla="*/ 62 h 102"/>
                <a:gd name="T16" fmla="*/ 133 w 138"/>
                <a:gd name="T17" fmla="*/ 84 h 102"/>
                <a:gd name="T18" fmla="*/ 138 w 138"/>
                <a:gd name="T19" fmla="*/ 102 h 102"/>
                <a:gd name="T20" fmla="*/ 0 w 138"/>
                <a:gd name="T21" fmla="*/ 102 h 102"/>
                <a:gd name="T22" fmla="*/ 5 w 138"/>
                <a:gd name="T23" fmla="*/ 84 h 102"/>
                <a:gd name="T24" fmla="*/ 12 w 138"/>
                <a:gd name="T25" fmla="*/ 62 h 102"/>
                <a:gd name="T26" fmla="*/ 22 w 138"/>
                <a:gd name="T27" fmla="*/ 4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8" h="102">
                  <a:moveTo>
                    <a:pt x="22" y="40"/>
                  </a:moveTo>
                  <a:cubicBezTo>
                    <a:pt x="26" y="32"/>
                    <a:pt x="31" y="26"/>
                    <a:pt x="35" y="20"/>
                  </a:cubicBezTo>
                  <a:cubicBezTo>
                    <a:pt x="40" y="14"/>
                    <a:pt x="45" y="9"/>
                    <a:pt x="51" y="6"/>
                  </a:cubicBezTo>
                  <a:cubicBezTo>
                    <a:pt x="57" y="2"/>
                    <a:pt x="63" y="0"/>
                    <a:pt x="69" y="0"/>
                  </a:cubicBezTo>
                  <a:cubicBezTo>
                    <a:pt x="76" y="0"/>
                    <a:pt x="82" y="2"/>
                    <a:pt x="87" y="6"/>
                  </a:cubicBezTo>
                  <a:cubicBezTo>
                    <a:pt x="93" y="9"/>
                    <a:pt x="98" y="14"/>
                    <a:pt x="103" y="20"/>
                  </a:cubicBezTo>
                  <a:cubicBezTo>
                    <a:pt x="108" y="26"/>
                    <a:pt x="112" y="32"/>
                    <a:pt x="116" y="40"/>
                  </a:cubicBezTo>
                  <a:cubicBezTo>
                    <a:pt x="120" y="47"/>
                    <a:pt x="123" y="55"/>
                    <a:pt x="126" y="62"/>
                  </a:cubicBezTo>
                  <a:cubicBezTo>
                    <a:pt x="129" y="70"/>
                    <a:pt x="131" y="77"/>
                    <a:pt x="133" y="84"/>
                  </a:cubicBezTo>
                  <a:cubicBezTo>
                    <a:pt x="135" y="91"/>
                    <a:pt x="137" y="97"/>
                    <a:pt x="138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2" y="97"/>
                    <a:pt x="3" y="91"/>
                    <a:pt x="5" y="84"/>
                  </a:cubicBezTo>
                  <a:cubicBezTo>
                    <a:pt x="7" y="77"/>
                    <a:pt x="9" y="70"/>
                    <a:pt x="12" y="62"/>
                  </a:cubicBezTo>
                  <a:cubicBezTo>
                    <a:pt x="15" y="55"/>
                    <a:pt x="19" y="47"/>
                    <a:pt x="22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4FD4C35-BEA9-4036-AC64-AD2FCBAF9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954"/>
              <a:ext cx="311" cy="338"/>
            </a:xfrm>
            <a:custGeom>
              <a:avLst/>
              <a:gdLst>
                <a:gd name="T0" fmla="*/ 31 w 66"/>
                <a:gd name="T1" fmla="*/ 69 h 70"/>
                <a:gd name="T2" fmla="*/ 24 w 66"/>
                <a:gd name="T3" fmla="*/ 64 h 70"/>
                <a:gd name="T4" fmla="*/ 16 w 66"/>
                <a:gd name="T5" fmla="*/ 58 h 70"/>
                <a:gd name="T6" fmla="*/ 10 w 66"/>
                <a:gd name="T7" fmla="*/ 52 h 70"/>
                <a:gd name="T8" fmla="*/ 5 w 66"/>
                <a:gd name="T9" fmla="*/ 44 h 70"/>
                <a:gd name="T10" fmla="*/ 1 w 66"/>
                <a:gd name="T11" fmla="*/ 35 h 70"/>
                <a:gd name="T12" fmla="*/ 0 w 66"/>
                <a:gd name="T13" fmla="*/ 26 h 70"/>
                <a:gd name="T14" fmla="*/ 0 w 66"/>
                <a:gd name="T15" fmla="*/ 9 h 70"/>
                <a:gd name="T16" fmla="*/ 2 w 66"/>
                <a:gd name="T17" fmla="*/ 9 h 70"/>
                <a:gd name="T18" fmla="*/ 12 w 66"/>
                <a:gd name="T19" fmla="*/ 7 h 70"/>
                <a:gd name="T20" fmla="*/ 21 w 66"/>
                <a:gd name="T21" fmla="*/ 3 h 70"/>
                <a:gd name="T22" fmla="*/ 26 w 66"/>
                <a:gd name="T23" fmla="*/ 0 h 70"/>
                <a:gd name="T24" fmla="*/ 33 w 66"/>
                <a:gd name="T25" fmla="*/ 0 h 70"/>
                <a:gd name="T26" fmla="*/ 39 w 66"/>
                <a:gd name="T27" fmla="*/ 0 h 70"/>
                <a:gd name="T28" fmla="*/ 44 w 66"/>
                <a:gd name="T29" fmla="*/ 3 h 70"/>
                <a:gd name="T30" fmla="*/ 53 w 66"/>
                <a:gd name="T31" fmla="*/ 7 h 70"/>
                <a:gd name="T32" fmla="*/ 63 w 66"/>
                <a:gd name="T33" fmla="*/ 9 h 70"/>
                <a:gd name="T34" fmla="*/ 66 w 66"/>
                <a:gd name="T35" fmla="*/ 9 h 70"/>
                <a:gd name="T36" fmla="*/ 66 w 66"/>
                <a:gd name="T37" fmla="*/ 26 h 70"/>
                <a:gd name="T38" fmla="*/ 64 w 66"/>
                <a:gd name="T39" fmla="*/ 35 h 70"/>
                <a:gd name="T40" fmla="*/ 61 w 66"/>
                <a:gd name="T41" fmla="*/ 44 h 70"/>
                <a:gd name="T42" fmla="*/ 55 w 66"/>
                <a:gd name="T43" fmla="*/ 52 h 70"/>
                <a:gd name="T44" fmla="*/ 49 w 66"/>
                <a:gd name="T45" fmla="*/ 58 h 70"/>
                <a:gd name="T46" fmla="*/ 41 w 66"/>
                <a:gd name="T47" fmla="*/ 64 h 70"/>
                <a:gd name="T48" fmla="*/ 34 w 66"/>
                <a:gd name="T49" fmla="*/ 69 h 70"/>
                <a:gd name="T50" fmla="*/ 33 w 66"/>
                <a:gd name="T51" fmla="*/ 70 h 70"/>
                <a:gd name="T52" fmla="*/ 31 w 66"/>
                <a:gd name="T53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6" h="70">
                  <a:moveTo>
                    <a:pt x="31" y="69"/>
                  </a:moveTo>
                  <a:cubicBezTo>
                    <a:pt x="29" y="68"/>
                    <a:pt x="26" y="66"/>
                    <a:pt x="24" y="64"/>
                  </a:cubicBezTo>
                  <a:cubicBezTo>
                    <a:pt x="21" y="62"/>
                    <a:pt x="19" y="60"/>
                    <a:pt x="16" y="58"/>
                  </a:cubicBezTo>
                  <a:cubicBezTo>
                    <a:pt x="14" y="56"/>
                    <a:pt x="12" y="54"/>
                    <a:pt x="10" y="52"/>
                  </a:cubicBezTo>
                  <a:cubicBezTo>
                    <a:pt x="8" y="49"/>
                    <a:pt x="6" y="47"/>
                    <a:pt x="5" y="44"/>
                  </a:cubicBezTo>
                  <a:cubicBezTo>
                    <a:pt x="3" y="41"/>
                    <a:pt x="2" y="38"/>
                    <a:pt x="1" y="35"/>
                  </a:cubicBezTo>
                  <a:cubicBezTo>
                    <a:pt x="0" y="32"/>
                    <a:pt x="0" y="29"/>
                    <a:pt x="0" y="2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5" y="9"/>
                    <a:pt x="9" y="8"/>
                    <a:pt x="12" y="7"/>
                  </a:cubicBezTo>
                  <a:cubicBezTo>
                    <a:pt x="15" y="6"/>
                    <a:pt x="18" y="5"/>
                    <a:pt x="21" y="3"/>
                  </a:cubicBezTo>
                  <a:cubicBezTo>
                    <a:pt x="23" y="2"/>
                    <a:pt x="25" y="1"/>
                    <a:pt x="26" y="0"/>
                  </a:cubicBezTo>
                  <a:cubicBezTo>
                    <a:pt x="28" y="0"/>
                    <a:pt x="30" y="0"/>
                    <a:pt x="33" y="0"/>
                  </a:cubicBezTo>
                  <a:cubicBezTo>
                    <a:pt x="35" y="0"/>
                    <a:pt x="37" y="0"/>
                    <a:pt x="39" y="0"/>
                  </a:cubicBezTo>
                  <a:cubicBezTo>
                    <a:pt x="41" y="1"/>
                    <a:pt x="43" y="2"/>
                    <a:pt x="44" y="3"/>
                  </a:cubicBezTo>
                  <a:cubicBezTo>
                    <a:pt x="47" y="5"/>
                    <a:pt x="50" y="6"/>
                    <a:pt x="53" y="7"/>
                  </a:cubicBezTo>
                  <a:cubicBezTo>
                    <a:pt x="57" y="8"/>
                    <a:pt x="60" y="9"/>
                    <a:pt x="63" y="9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6" y="29"/>
                    <a:pt x="65" y="32"/>
                    <a:pt x="64" y="35"/>
                  </a:cubicBezTo>
                  <a:cubicBezTo>
                    <a:pt x="63" y="38"/>
                    <a:pt x="62" y="41"/>
                    <a:pt x="61" y="44"/>
                  </a:cubicBezTo>
                  <a:cubicBezTo>
                    <a:pt x="59" y="47"/>
                    <a:pt x="57" y="49"/>
                    <a:pt x="55" y="52"/>
                  </a:cubicBezTo>
                  <a:cubicBezTo>
                    <a:pt x="53" y="54"/>
                    <a:pt x="51" y="56"/>
                    <a:pt x="49" y="58"/>
                  </a:cubicBezTo>
                  <a:cubicBezTo>
                    <a:pt x="47" y="60"/>
                    <a:pt x="44" y="62"/>
                    <a:pt x="41" y="64"/>
                  </a:cubicBezTo>
                  <a:cubicBezTo>
                    <a:pt x="39" y="66"/>
                    <a:pt x="36" y="68"/>
                    <a:pt x="34" y="69"/>
                  </a:cubicBezTo>
                  <a:cubicBezTo>
                    <a:pt x="33" y="70"/>
                    <a:pt x="33" y="70"/>
                    <a:pt x="33" y="70"/>
                  </a:cubicBezTo>
                  <a:lnTo>
                    <a:pt x="31" y="69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5FEE9293-48D6-4437-9D4E-0430F0038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297"/>
              <a:ext cx="486" cy="445"/>
            </a:xfrm>
            <a:custGeom>
              <a:avLst/>
              <a:gdLst>
                <a:gd name="T0" fmla="*/ 18 w 103"/>
                <a:gd name="T1" fmla="*/ 62 h 92"/>
                <a:gd name="T2" fmla="*/ 42 w 103"/>
                <a:gd name="T3" fmla="*/ 36 h 92"/>
                <a:gd name="T4" fmla="*/ 71 w 103"/>
                <a:gd name="T5" fmla="*/ 15 h 92"/>
                <a:gd name="T6" fmla="*/ 103 w 103"/>
                <a:gd name="T7" fmla="*/ 0 h 92"/>
                <a:gd name="T8" fmla="*/ 90 w 103"/>
                <a:gd name="T9" fmla="*/ 21 h 92"/>
                <a:gd name="T10" fmla="*/ 80 w 103"/>
                <a:gd name="T11" fmla="*/ 44 h 92"/>
                <a:gd name="T12" fmla="*/ 72 w 103"/>
                <a:gd name="T13" fmla="*/ 68 h 92"/>
                <a:gd name="T14" fmla="*/ 66 w 103"/>
                <a:gd name="T15" fmla="*/ 92 h 92"/>
                <a:gd name="T16" fmla="*/ 0 w 103"/>
                <a:gd name="T17" fmla="*/ 92 h 92"/>
                <a:gd name="T18" fmla="*/ 18 w 103"/>
                <a:gd name="T19" fmla="*/ 6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92">
                  <a:moveTo>
                    <a:pt x="18" y="62"/>
                  </a:moveTo>
                  <a:cubicBezTo>
                    <a:pt x="26" y="52"/>
                    <a:pt x="34" y="44"/>
                    <a:pt x="42" y="36"/>
                  </a:cubicBezTo>
                  <a:cubicBezTo>
                    <a:pt x="51" y="28"/>
                    <a:pt x="61" y="21"/>
                    <a:pt x="71" y="15"/>
                  </a:cubicBezTo>
                  <a:cubicBezTo>
                    <a:pt x="81" y="9"/>
                    <a:pt x="92" y="4"/>
                    <a:pt x="103" y="0"/>
                  </a:cubicBezTo>
                  <a:cubicBezTo>
                    <a:pt x="98" y="7"/>
                    <a:pt x="94" y="14"/>
                    <a:pt x="90" y="21"/>
                  </a:cubicBezTo>
                  <a:cubicBezTo>
                    <a:pt x="86" y="29"/>
                    <a:pt x="83" y="36"/>
                    <a:pt x="80" y="44"/>
                  </a:cubicBezTo>
                  <a:cubicBezTo>
                    <a:pt x="77" y="52"/>
                    <a:pt x="74" y="60"/>
                    <a:pt x="72" y="68"/>
                  </a:cubicBezTo>
                  <a:cubicBezTo>
                    <a:pt x="70" y="76"/>
                    <a:pt x="68" y="84"/>
                    <a:pt x="66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5" y="82"/>
                    <a:pt x="11" y="71"/>
                    <a:pt x="18" y="62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60D5AE4-AC6A-47E4-8965-910030AFC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867"/>
              <a:ext cx="373" cy="493"/>
            </a:xfrm>
            <a:custGeom>
              <a:avLst/>
              <a:gdLst>
                <a:gd name="T0" fmla="*/ 0 w 79"/>
                <a:gd name="T1" fmla="*/ 51 h 102"/>
                <a:gd name="T2" fmla="*/ 7 w 79"/>
                <a:gd name="T3" fmla="*/ 0 h 102"/>
                <a:gd name="T4" fmla="*/ 79 w 79"/>
                <a:gd name="T5" fmla="*/ 0 h 102"/>
                <a:gd name="T6" fmla="*/ 77 w 79"/>
                <a:gd name="T7" fmla="*/ 25 h 102"/>
                <a:gd name="T8" fmla="*/ 76 w 79"/>
                <a:gd name="T9" fmla="*/ 51 h 102"/>
                <a:gd name="T10" fmla="*/ 77 w 79"/>
                <a:gd name="T11" fmla="*/ 76 h 102"/>
                <a:gd name="T12" fmla="*/ 79 w 79"/>
                <a:gd name="T13" fmla="*/ 102 h 102"/>
                <a:gd name="T14" fmla="*/ 7 w 79"/>
                <a:gd name="T15" fmla="*/ 102 h 102"/>
                <a:gd name="T16" fmla="*/ 0 w 79"/>
                <a:gd name="T17" fmla="*/ 5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2">
                  <a:moveTo>
                    <a:pt x="0" y="51"/>
                  </a:moveTo>
                  <a:cubicBezTo>
                    <a:pt x="0" y="33"/>
                    <a:pt x="2" y="16"/>
                    <a:pt x="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8" y="8"/>
                    <a:pt x="78" y="17"/>
                    <a:pt x="77" y="25"/>
                  </a:cubicBezTo>
                  <a:cubicBezTo>
                    <a:pt x="76" y="34"/>
                    <a:pt x="76" y="42"/>
                    <a:pt x="76" y="51"/>
                  </a:cubicBezTo>
                  <a:cubicBezTo>
                    <a:pt x="76" y="59"/>
                    <a:pt x="76" y="68"/>
                    <a:pt x="77" y="76"/>
                  </a:cubicBezTo>
                  <a:cubicBezTo>
                    <a:pt x="78" y="85"/>
                    <a:pt x="78" y="93"/>
                    <a:pt x="79" y="102"/>
                  </a:cubicBezTo>
                  <a:cubicBezTo>
                    <a:pt x="7" y="102"/>
                    <a:pt x="7" y="102"/>
                    <a:pt x="7" y="102"/>
                  </a:cubicBezTo>
                  <a:cubicBezTo>
                    <a:pt x="2" y="85"/>
                    <a:pt x="0" y="68"/>
                    <a:pt x="0" y="51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A29C625D-BEC9-4720-9902-6F0A325FA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1480"/>
              <a:ext cx="486" cy="445"/>
            </a:xfrm>
            <a:custGeom>
              <a:avLst/>
              <a:gdLst>
                <a:gd name="T0" fmla="*/ 71 w 103"/>
                <a:gd name="T1" fmla="*/ 77 h 92"/>
                <a:gd name="T2" fmla="*/ 42 w 103"/>
                <a:gd name="T3" fmla="*/ 56 h 92"/>
                <a:gd name="T4" fmla="*/ 18 w 103"/>
                <a:gd name="T5" fmla="*/ 31 h 92"/>
                <a:gd name="T6" fmla="*/ 0 w 103"/>
                <a:gd name="T7" fmla="*/ 0 h 92"/>
                <a:gd name="T8" fmla="*/ 66 w 103"/>
                <a:gd name="T9" fmla="*/ 0 h 92"/>
                <a:gd name="T10" fmla="*/ 72 w 103"/>
                <a:gd name="T11" fmla="*/ 24 h 92"/>
                <a:gd name="T12" fmla="*/ 80 w 103"/>
                <a:gd name="T13" fmla="*/ 48 h 92"/>
                <a:gd name="T14" fmla="*/ 90 w 103"/>
                <a:gd name="T15" fmla="*/ 71 h 92"/>
                <a:gd name="T16" fmla="*/ 103 w 103"/>
                <a:gd name="T17" fmla="*/ 92 h 92"/>
                <a:gd name="T18" fmla="*/ 71 w 103"/>
                <a:gd name="T19" fmla="*/ 7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92">
                  <a:moveTo>
                    <a:pt x="71" y="77"/>
                  </a:moveTo>
                  <a:cubicBezTo>
                    <a:pt x="61" y="71"/>
                    <a:pt x="51" y="64"/>
                    <a:pt x="42" y="56"/>
                  </a:cubicBezTo>
                  <a:cubicBezTo>
                    <a:pt x="34" y="49"/>
                    <a:pt x="26" y="40"/>
                    <a:pt x="18" y="31"/>
                  </a:cubicBezTo>
                  <a:cubicBezTo>
                    <a:pt x="11" y="21"/>
                    <a:pt x="5" y="11"/>
                    <a:pt x="0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8" y="8"/>
                    <a:pt x="70" y="16"/>
                    <a:pt x="72" y="24"/>
                  </a:cubicBezTo>
                  <a:cubicBezTo>
                    <a:pt x="74" y="32"/>
                    <a:pt x="77" y="40"/>
                    <a:pt x="80" y="48"/>
                  </a:cubicBezTo>
                  <a:cubicBezTo>
                    <a:pt x="83" y="56"/>
                    <a:pt x="86" y="64"/>
                    <a:pt x="90" y="71"/>
                  </a:cubicBezTo>
                  <a:cubicBezTo>
                    <a:pt x="94" y="79"/>
                    <a:pt x="98" y="86"/>
                    <a:pt x="103" y="92"/>
                  </a:cubicBezTo>
                  <a:cubicBezTo>
                    <a:pt x="92" y="88"/>
                    <a:pt x="81" y="83"/>
                    <a:pt x="71" y="77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</p:grpSp>
      <p:sp>
        <p:nvSpPr>
          <p:cNvPr id="53" name="CasellaDiTesto 30">
            <a:extLst>
              <a:ext uri="{FF2B5EF4-FFF2-40B4-BE49-F238E27FC236}">
                <a16:creationId xmlns:a16="http://schemas.microsoft.com/office/drawing/2014/main" id="{200F6693-B23F-484F-872C-C27F145F3055}"/>
              </a:ext>
            </a:extLst>
          </p:cNvPr>
          <p:cNvSpPr txBox="1"/>
          <p:nvPr/>
        </p:nvSpPr>
        <p:spPr>
          <a:xfrm>
            <a:off x="335268" y="1639772"/>
            <a:ext cx="63164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56"/>
              </a:lnSpc>
            </a:pPr>
            <a:endParaRPr lang="ro-RO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556"/>
              </a:lnSpc>
            </a:pPr>
            <a:r>
              <a:rPr lang="ro-RO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 tehnici de exploatare tot mai populare si sofisticate în mediul online cum ar fi cross-site scripting (xss) sau sql injection (sqli), este foarte important să avem protecția și tool-urile necasare pentru a preveni potențiale atacuri.</a:t>
            </a:r>
          </a:p>
          <a:p>
            <a:pPr>
              <a:lnSpc>
                <a:spcPts val="1556"/>
              </a:lnSpc>
            </a:pPr>
            <a:r>
              <a:rPr lang="ro-RO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 Guard Scanner îți oferă abilitatea de a preveni astfel de atacuri prin scanări avansate și puternice. </a:t>
            </a:r>
          </a:p>
          <a:p>
            <a:pPr>
              <a:lnSpc>
                <a:spcPts val="1556"/>
              </a:lnSpc>
            </a:pPr>
            <a:endParaRPr lang="ro-RO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556"/>
              </a:lnSpc>
            </a:pPr>
            <a:endParaRPr lang="ro-RO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556"/>
              </a:lnSpc>
            </a:pPr>
            <a:endParaRPr lang="ro-RO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CasellaDiTesto 15">
            <a:extLst>
              <a:ext uri="{FF2B5EF4-FFF2-40B4-BE49-F238E27FC236}">
                <a16:creationId xmlns:a16="http://schemas.microsoft.com/office/drawing/2014/main" id="{AB38EF5A-1266-4C7E-8264-0032ACA017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22880" y="3683874"/>
            <a:ext cx="9358238" cy="5775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ro-RO" sz="2400" b="1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Evită infrastructură slabă și vulnerabilă</a:t>
            </a: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CasellaDiTesto 27">
            <a:extLst>
              <a:ext uri="{FF2B5EF4-FFF2-40B4-BE49-F238E27FC236}">
                <a16:creationId xmlns:a16="http://schemas.microsoft.com/office/drawing/2014/main" id="{90B673D8-1965-409B-AAAA-0CA5854A3F81}"/>
              </a:ext>
            </a:extLst>
          </p:cNvPr>
          <p:cNvSpPr txBox="1"/>
          <p:nvPr/>
        </p:nvSpPr>
        <p:spPr>
          <a:xfrm>
            <a:off x="377282" y="4469834"/>
            <a:ext cx="781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noProof="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95%</a:t>
            </a:r>
          </a:p>
        </p:txBody>
      </p:sp>
      <p:grpSp>
        <p:nvGrpSpPr>
          <p:cNvPr id="14" name="Group 13" descr="Illustration of a safety shield with an exclamation mark in the middle">
            <a:extLst>
              <a:ext uri="{FF2B5EF4-FFF2-40B4-BE49-F238E27FC236}">
                <a16:creationId xmlns:a16="http://schemas.microsoft.com/office/drawing/2014/main" id="{09DB7205-5F47-4D0B-BDE7-B6FF719AA4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85308" y="4733090"/>
            <a:ext cx="371476" cy="396245"/>
            <a:chOff x="585308" y="4733090"/>
            <a:chExt cx="371476" cy="39624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65D4B9-EB04-46FB-8C66-55995574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5308" y="4733090"/>
              <a:ext cx="371476" cy="396245"/>
            </a:xfrm>
            <a:custGeom>
              <a:avLst/>
              <a:gdLst>
                <a:gd name="connsiteX0" fmla="*/ 179300 w 371476"/>
                <a:gd name="connsiteY0" fmla="*/ 392036 h 396245"/>
                <a:gd name="connsiteX1" fmla="*/ 136208 w 371476"/>
                <a:gd name="connsiteY1" fmla="*/ 364423 h 396245"/>
                <a:gd name="connsiteX2" fmla="*/ 94727 w 371476"/>
                <a:gd name="connsiteY2" fmla="*/ 331238 h 396245"/>
                <a:gd name="connsiteX3" fmla="*/ 57580 w 371476"/>
                <a:gd name="connsiteY3" fmla="*/ 293100 h 396245"/>
                <a:gd name="connsiteX4" fmla="*/ 27490 w 371476"/>
                <a:gd name="connsiteY4" fmla="*/ 249389 h 396245"/>
                <a:gd name="connsiteX5" fmla="*/ 7430 w 371476"/>
                <a:gd name="connsiteY5" fmla="*/ 200478 h 396245"/>
                <a:gd name="connsiteX6" fmla="*/ 1 w 371476"/>
                <a:gd name="connsiteY6" fmla="*/ 146119 h 396245"/>
                <a:gd name="connsiteX7" fmla="*/ 1 w 371476"/>
                <a:gd name="connsiteY7" fmla="*/ 53374 h 396245"/>
                <a:gd name="connsiteX8" fmla="*/ 12383 w 371476"/>
                <a:gd name="connsiteY8" fmla="*/ 53374 h 396245"/>
                <a:gd name="connsiteX9" fmla="*/ 68848 w 371476"/>
                <a:gd name="connsiteY9" fmla="*/ 43344 h 396245"/>
                <a:gd name="connsiteX10" fmla="*/ 119864 w 371476"/>
                <a:gd name="connsiteY10" fmla="*/ 19694 h 396245"/>
                <a:gd name="connsiteX11" fmla="*/ 151315 w 371476"/>
                <a:gd name="connsiteY11" fmla="*/ 4835 h 396245"/>
                <a:gd name="connsiteX12" fmla="*/ 185738 w 371476"/>
                <a:gd name="connsiteY12" fmla="*/ 6 h 396245"/>
                <a:gd name="connsiteX13" fmla="*/ 220409 w 371476"/>
                <a:gd name="connsiteY13" fmla="*/ 4835 h 396245"/>
                <a:gd name="connsiteX14" fmla="*/ 252109 w 371476"/>
                <a:gd name="connsiteY14" fmla="*/ 19818 h 396245"/>
                <a:gd name="connsiteX15" fmla="*/ 303125 w 371476"/>
                <a:gd name="connsiteY15" fmla="*/ 43344 h 396245"/>
                <a:gd name="connsiteX16" fmla="*/ 359093 w 371476"/>
                <a:gd name="connsiteY16" fmla="*/ 52755 h 396245"/>
                <a:gd name="connsiteX17" fmla="*/ 371476 w 371476"/>
                <a:gd name="connsiteY17" fmla="*/ 52755 h 396245"/>
                <a:gd name="connsiteX18" fmla="*/ 371476 w 371476"/>
                <a:gd name="connsiteY18" fmla="*/ 146119 h 396245"/>
                <a:gd name="connsiteX19" fmla="*/ 364046 w 371476"/>
                <a:gd name="connsiteY19" fmla="*/ 200478 h 396245"/>
                <a:gd name="connsiteX20" fmla="*/ 343863 w 371476"/>
                <a:gd name="connsiteY20" fmla="*/ 249389 h 396245"/>
                <a:gd name="connsiteX21" fmla="*/ 313774 w 371476"/>
                <a:gd name="connsiteY21" fmla="*/ 293100 h 396245"/>
                <a:gd name="connsiteX22" fmla="*/ 276626 w 371476"/>
                <a:gd name="connsiteY22" fmla="*/ 331238 h 396245"/>
                <a:gd name="connsiteX23" fmla="*/ 235145 w 371476"/>
                <a:gd name="connsiteY23" fmla="*/ 364423 h 396245"/>
                <a:gd name="connsiteX24" fmla="*/ 191930 w 371476"/>
                <a:gd name="connsiteY24" fmla="*/ 392036 h 396245"/>
                <a:gd name="connsiteX25" fmla="*/ 185738 w 371476"/>
                <a:gd name="connsiteY25" fmla="*/ 396246 h 396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71476" h="396245">
                  <a:moveTo>
                    <a:pt x="179300" y="392036"/>
                  </a:moveTo>
                  <a:cubicBezTo>
                    <a:pt x="164936" y="383863"/>
                    <a:pt x="150324" y="374329"/>
                    <a:pt x="136208" y="364423"/>
                  </a:cubicBezTo>
                  <a:cubicBezTo>
                    <a:pt x="121729" y="354202"/>
                    <a:pt x="107877" y="343120"/>
                    <a:pt x="94727" y="331238"/>
                  </a:cubicBezTo>
                  <a:cubicBezTo>
                    <a:pt x="81507" y="319369"/>
                    <a:pt x="69097" y="306627"/>
                    <a:pt x="57580" y="293100"/>
                  </a:cubicBezTo>
                  <a:cubicBezTo>
                    <a:pt x="46176" y="279525"/>
                    <a:pt x="36100" y="264887"/>
                    <a:pt x="27490" y="249389"/>
                  </a:cubicBezTo>
                  <a:cubicBezTo>
                    <a:pt x="18987" y="233891"/>
                    <a:pt x="12258" y="217483"/>
                    <a:pt x="7430" y="200478"/>
                  </a:cubicBezTo>
                  <a:cubicBezTo>
                    <a:pt x="2445" y="182791"/>
                    <a:pt x="-56" y="164496"/>
                    <a:pt x="1" y="146119"/>
                  </a:cubicBezTo>
                  <a:lnTo>
                    <a:pt x="1" y="53374"/>
                  </a:lnTo>
                  <a:lnTo>
                    <a:pt x="12383" y="53374"/>
                  </a:lnTo>
                  <a:cubicBezTo>
                    <a:pt x="31524" y="52183"/>
                    <a:pt x="50468" y="48818"/>
                    <a:pt x="68848" y="43344"/>
                  </a:cubicBezTo>
                  <a:cubicBezTo>
                    <a:pt x="86891" y="37927"/>
                    <a:pt x="104069" y="29963"/>
                    <a:pt x="119864" y="19694"/>
                  </a:cubicBezTo>
                  <a:cubicBezTo>
                    <a:pt x="129616" y="13322"/>
                    <a:pt x="140199" y="8322"/>
                    <a:pt x="151315" y="4835"/>
                  </a:cubicBezTo>
                  <a:cubicBezTo>
                    <a:pt x="162492" y="1551"/>
                    <a:pt x="174089" y="-76"/>
                    <a:pt x="185738" y="6"/>
                  </a:cubicBezTo>
                  <a:cubicBezTo>
                    <a:pt x="197471" y="-110"/>
                    <a:pt x="209155" y="1518"/>
                    <a:pt x="220409" y="4835"/>
                  </a:cubicBezTo>
                  <a:cubicBezTo>
                    <a:pt x="231633" y="8300"/>
                    <a:pt x="242307" y="13345"/>
                    <a:pt x="252109" y="19818"/>
                  </a:cubicBezTo>
                  <a:cubicBezTo>
                    <a:pt x="267933" y="30001"/>
                    <a:pt x="285106" y="37920"/>
                    <a:pt x="303125" y="43344"/>
                  </a:cubicBezTo>
                  <a:cubicBezTo>
                    <a:pt x="321369" y="48573"/>
                    <a:pt x="340143" y="51730"/>
                    <a:pt x="359093" y="52755"/>
                  </a:cubicBezTo>
                  <a:lnTo>
                    <a:pt x="371476" y="52755"/>
                  </a:lnTo>
                  <a:lnTo>
                    <a:pt x="371476" y="146119"/>
                  </a:lnTo>
                  <a:cubicBezTo>
                    <a:pt x="371533" y="164496"/>
                    <a:pt x="369032" y="182791"/>
                    <a:pt x="364046" y="200478"/>
                  </a:cubicBezTo>
                  <a:cubicBezTo>
                    <a:pt x="359179" y="217490"/>
                    <a:pt x="352408" y="233896"/>
                    <a:pt x="343863" y="249389"/>
                  </a:cubicBezTo>
                  <a:cubicBezTo>
                    <a:pt x="335297" y="264915"/>
                    <a:pt x="325219" y="279556"/>
                    <a:pt x="313774" y="293100"/>
                  </a:cubicBezTo>
                  <a:cubicBezTo>
                    <a:pt x="302257" y="306627"/>
                    <a:pt x="289846" y="319369"/>
                    <a:pt x="276626" y="331238"/>
                  </a:cubicBezTo>
                  <a:cubicBezTo>
                    <a:pt x="263539" y="343193"/>
                    <a:pt x="249682" y="354279"/>
                    <a:pt x="235145" y="364423"/>
                  </a:cubicBezTo>
                  <a:cubicBezTo>
                    <a:pt x="220781" y="374329"/>
                    <a:pt x="206293" y="383739"/>
                    <a:pt x="191930" y="392036"/>
                  </a:cubicBezTo>
                  <a:lnTo>
                    <a:pt x="185738" y="396246"/>
                  </a:lnTo>
                  <a:close/>
                </a:path>
              </a:pathLst>
            </a:custGeom>
            <a:solidFill>
              <a:srgbClr val="D2D2D2"/>
            </a:solidFill>
            <a:ln w="123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8C31353-5944-4785-BAE3-A4814F2755FD}"/>
                </a:ext>
              </a:extLst>
            </p:cNvPr>
            <p:cNvSpPr/>
            <p:nvPr/>
          </p:nvSpPr>
          <p:spPr>
            <a:xfrm>
              <a:off x="751358" y="4827574"/>
              <a:ext cx="39871" cy="132616"/>
            </a:xfrm>
            <a:custGeom>
              <a:avLst/>
              <a:gdLst>
                <a:gd name="connsiteX0" fmla="*/ 39872 w 39871"/>
                <a:gd name="connsiteY0" fmla="*/ 0 h 132616"/>
                <a:gd name="connsiteX1" fmla="*/ 39872 w 39871"/>
                <a:gd name="connsiteY1" fmla="*/ 132617 h 132616"/>
                <a:gd name="connsiteX2" fmla="*/ 0 w 39871"/>
                <a:gd name="connsiteY2" fmla="*/ 132617 h 132616"/>
                <a:gd name="connsiteX3" fmla="*/ 0 w 39871"/>
                <a:gd name="connsiteY3" fmla="*/ 0 h 132616"/>
                <a:gd name="connsiteX4" fmla="*/ 39872 w 39871"/>
                <a:gd name="connsiteY4" fmla="*/ 0 h 1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71" h="132616">
                  <a:moveTo>
                    <a:pt x="39872" y="0"/>
                  </a:moveTo>
                  <a:lnTo>
                    <a:pt x="39872" y="132617"/>
                  </a:lnTo>
                  <a:lnTo>
                    <a:pt x="0" y="132617"/>
                  </a:lnTo>
                  <a:lnTo>
                    <a:pt x="0" y="0"/>
                  </a:lnTo>
                  <a:lnTo>
                    <a:pt x="39872" y="0"/>
                  </a:lnTo>
                </a:path>
              </a:pathLst>
            </a:custGeom>
            <a:solidFill>
              <a:srgbClr val="7030A0"/>
            </a:solidFill>
            <a:ln w="123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 noProof="0" dirty="0">
                <a:solidFill>
                  <a:srgbClr val="7030A0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6A48D3B-DE66-4E24-A0F2-F7EDF9B12706}"/>
                </a:ext>
              </a:extLst>
            </p:cNvPr>
            <p:cNvSpPr/>
            <p:nvPr/>
          </p:nvSpPr>
          <p:spPr>
            <a:xfrm>
              <a:off x="751234" y="4988051"/>
              <a:ext cx="40119" cy="27736"/>
            </a:xfrm>
            <a:custGeom>
              <a:avLst/>
              <a:gdLst>
                <a:gd name="connsiteX0" fmla="*/ 0 w 40119"/>
                <a:gd name="connsiteY0" fmla="*/ 0 h 27736"/>
                <a:gd name="connsiteX1" fmla="*/ 40119 w 40119"/>
                <a:gd name="connsiteY1" fmla="*/ 0 h 27736"/>
                <a:gd name="connsiteX2" fmla="*/ 40119 w 40119"/>
                <a:gd name="connsiteY2" fmla="*/ 27737 h 27736"/>
                <a:gd name="connsiteX3" fmla="*/ 0 w 40119"/>
                <a:gd name="connsiteY3" fmla="*/ 27737 h 2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119" h="27736">
                  <a:moveTo>
                    <a:pt x="0" y="0"/>
                  </a:moveTo>
                  <a:lnTo>
                    <a:pt x="40119" y="0"/>
                  </a:lnTo>
                  <a:lnTo>
                    <a:pt x="40119" y="27737"/>
                  </a:lnTo>
                  <a:lnTo>
                    <a:pt x="0" y="27737"/>
                  </a:lnTo>
                  <a:close/>
                </a:path>
              </a:pathLst>
            </a:custGeom>
            <a:solidFill>
              <a:srgbClr val="7030A0"/>
            </a:solidFill>
            <a:ln w="123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 noProof="0" dirty="0"/>
            </a:p>
          </p:txBody>
        </p:sp>
      </p:grpSp>
      <p:sp>
        <p:nvSpPr>
          <p:cNvPr id="56" name="CasellaDiTesto 24">
            <a:extLst>
              <a:ext uri="{FF2B5EF4-FFF2-40B4-BE49-F238E27FC236}">
                <a16:creationId xmlns:a16="http://schemas.microsoft.com/office/drawing/2014/main" id="{AE12625D-DAA2-44A7-BEE4-8740C4747BDE}"/>
              </a:ext>
            </a:extLst>
          </p:cNvPr>
          <p:cNvSpPr txBox="1"/>
          <p:nvPr/>
        </p:nvSpPr>
        <p:spPr>
          <a:xfrm>
            <a:off x="1316838" y="4474352"/>
            <a:ext cx="44176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57"/>
              </a:lnSpc>
            </a:pPr>
            <a:r>
              <a:rPr lang="ro-RO" sz="14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Atacatorii se folosesc de software-ul și infrastructura învechită pentru a produce daune semnificative website-urilor. Până la 95% din website-urile întâlnite au software vechi și aproximativ toate au un punct slab.</a:t>
            </a:r>
            <a:endParaRPr lang="ro-RO" sz="1400" noProof="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CasellaDiTesto 24">
            <a:extLst>
              <a:ext uri="{FF2B5EF4-FFF2-40B4-BE49-F238E27FC236}">
                <a16:creationId xmlns:a16="http://schemas.microsoft.com/office/drawing/2014/main" id="{92FBA182-87DA-4565-9B47-ADF1CD720188}"/>
              </a:ext>
            </a:extLst>
          </p:cNvPr>
          <p:cNvSpPr txBox="1"/>
          <p:nvPr/>
        </p:nvSpPr>
        <p:spPr>
          <a:xfrm>
            <a:off x="1346435" y="5528067"/>
            <a:ext cx="4417626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57"/>
              </a:lnSpc>
            </a:pPr>
            <a:r>
              <a:rPr lang="ro-RO" sz="14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Fie că este o vulnerabilitate de tip sql, fie că este de tip cross-site scripting, atacatorii se folosesc de input-uri nesanitizate pentru a găsi puncte de acces.</a:t>
            </a:r>
            <a:endParaRPr lang="ro-RO" sz="1400" noProof="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" name="Group 16" descr="Illustration of a computer monitor with a safety shield in the middle">
            <a:extLst>
              <a:ext uri="{FF2B5EF4-FFF2-40B4-BE49-F238E27FC236}">
                <a16:creationId xmlns:a16="http://schemas.microsoft.com/office/drawing/2014/main" id="{E1B9DEF3-B144-4589-8B5D-527D8EA0C485}"/>
              </a:ext>
            </a:extLst>
          </p:cNvPr>
          <p:cNvGrpSpPr/>
          <p:nvPr/>
        </p:nvGrpSpPr>
        <p:grpSpPr>
          <a:xfrm>
            <a:off x="503238" y="6710909"/>
            <a:ext cx="528637" cy="411162"/>
            <a:chOff x="503238" y="6465888"/>
            <a:chExt cx="528637" cy="411162"/>
          </a:xfrm>
        </p:grpSpPr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CF751FF9-F55F-42DC-92A7-3AB522C9E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38" y="6465888"/>
              <a:ext cx="528637" cy="411162"/>
            </a:xfrm>
            <a:custGeom>
              <a:avLst/>
              <a:gdLst>
                <a:gd name="T0" fmla="*/ 102 w 102"/>
                <a:gd name="T1" fmla="*/ 60 h 79"/>
                <a:gd name="T2" fmla="*/ 102 w 102"/>
                <a:gd name="T3" fmla="*/ 3 h 79"/>
                <a:gd name="T4" fmla="*/ 99 w 102"/>
                <a:gd name="T5" fmla="*/ 0 h 79"/>
                <a:gd name="T6" fmla="*/ 3 w 102"/>
                <a:gd name="T7" fmla="*/ 0 h 79"/>
                <a:gd name="T8" fmla="*/ 0 w 102"/>
                <a:gd name="T9" fmla="*/ 3 h 79"/>
                <a:gd name="T10" fmla="*/ 0 w 102"/>
                <a:gd name="T11" fmla="*/ 60 h 79"/>
                <a:gd name="T12" fmla="*/ 3 w 102"/>
                <a:gd name="T13" fmla="*/ 64 h 79"/>
                <a:gd name="T14" fmla="*/ 47 w 102"/>
                <a:gd name="T15" fmla="*/ 64 h 79"/>
                <a:gd name="T16" fmla="*/ 47 w 102"/>
                <a:gd name="T17" fmla="*/ 73 h 79"/>
                <a:gd name="T18" fmla="*/ 31 w 102"/>
                <a:gd name="T19" fmla="*/ 73 h 79"/>
                <a:gd name="T20" fmla="*/ 31 w 102"/>
                <a:gd name="T21" fmla="*/ 79 h 79"/>
                <a:gd name="T22" fmla="*/ 70 w 102"/>
                <a:gd name="T23" fmla="*/ 79 h 79"/>
                <a:gd name="T24" fmla="*/ 70 w 102"/>
                <a:gd name="T25" fmla="*/ 73 h 79"/>
                <a:gd name="T26" fmla="*/ 55 w 102"/>
                <a:gd name="T27" fmla="*/ 73 h 79"/>
                <a:gd name="T28" fmla="*/ 55 w 102"/>
                <a:gd name="T29" fmla="*/ 64 h 79"/>
                <a:gd name="T30" fmla="*/ 99 w 102"/>
                <a:gd name="T31" fmla="*/ 64 h 79"/>
                <a:gd name="T32" fmla="*/ 102 w 102"/>
                <a:gd name="T33" fmla="*/ 6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2" h="79">
                  <a:moveTo>
                    <a:pt x="102" y="60"/>
                  </a:moveTo>
                  <a:cubicBezTo>
                    <a:pt x="102" y="3"/>
                    <a:pt x="102" y="3"/>
                    <a:pt x="102" y="3"/>
                  </a:cubicBezTo>
                  <a:cubicBezTo>
                    <a:pt x="102" y="1"/>
                    <a:pt x="101" y="0"/>
                    <a:pt x="9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2"/>
                    <a:pt x="2" y="64"/>
                    <a:pt x="3" y="64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55" y="73"/>
                    <a:pt x="55" y="73"/>
                    <a:pt x="55" y="73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101" y="64"/>
                    <a:pt x="102" y="62"/>
                    <a:pt x="102" y="60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o-RO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E3CA2D-A124-4AA9-AD4E-D56B2EB2B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4793" y="6536930"/>
              <a:ext cx="185526" cy="197896"/>
            </a:xfrm>
            <a:custGeom>
              <a:avLst/>
              <a:gdLst>
                <a:gd name="connsiteX0" fmla="*/ 179300 w 371476"/>
                <a:gd name="connsiteY0" fmla="*/ 392036 h 396245"/>
                <a:gd name="connsiteX1" fmla="*/ 136208 w 371476"/>
                <a:gd name="connsiteY1" fmla="*/ 364423 h 396245"/>
                <a:gd name="connsiteX2" fmla="*/ 94727 w 371476"/>
                <a:gd name="connsiteY2" fmla="*/ 331238 h 396245"/>
                <a:gd name="connsiteX3" fmla="*/ 57580 w 371476"/>
                <a:gd name="connsiteY3" fmla="*/ 293100 h 396245"/>
                <a:gd name="connsiteX4" fmla="*/ 27490 w 371476"/>
                <a:gd name="connsiteY4" fmla="*/ 249389 h 396245"/>
                <a:gd name="connsiteX5" fmla="*/ 7430 w 371476"/>
                <a:gd name="connsiteY5" fmla="*/ 200478 h 396245"/>
                <a:gd name="connsiteX6" fmla="*/ 1 w 371476"/>
                <a:gd name="connsiteY6" fmla="*/ 146119 h 396245"/>
                <a:gd name="connsiteX7" fmla="*/ 1 w 371476"/>
                <a:gd name="connsiteY7" fmla="*/ 53374 h 396245"/>
                <a:gd name="connsiteX8" fmla="*/ 12383 w 371476"/>
                <a:gd name="connsiteY8" fmla="*/ 53374 h 396245"/>
                <a:gd name="connsiteX9" fmla="*/ 68848 w 371476"/>
                <a:gd name="connsiteY9" fmla="*/ 43344 h 396245"/>
                <a:gd name="connsiteX10" fmla="*/ 119864 w 371476"/>
                <a:gd name="connsiteY10" fmla="*/ 19694 h 396245"/>
                <a:gd name="connsiteX11" fmla="*/ 151315 w 371476"/>
                <a:gd name="connsiteY11" fmla="*/ 4835 h 396245"/>
                <a:gd name="connsiteX12" fmla="*/ 185738 w 371476"/>
                <a:gd name="connsiteY12" fmla="*/ 6 h 396245"/>
                <a:gd name="connsiteX13" fmla="*/ 220409 w 371476"/>
                <a:gd name="connsiteY13" fmla="*/ 4835 h 396245"/>
                <a:gd name="connsiteX14" fmla="*/ 252109 w 371476"/>
                <a:gd name="connsiteY14" fmla="*/ 19818 h 396245"/>
                <a:gd name="connsiteX15" fmla="*/ 303125 w 371476"/>
                <a:gd name="connsiteY15" fmla="*/ 43344 h 396245"/>
                <a:gd name="connsiteX16" fmla="*/ 359093 w 371476"/>
                <a:gd name="connsiteY16" fmla="*/ 52755 h 396245"/>
                <a:gd name="connsiteX17" fmla="*/ 371476 w 371476"/>
                <a:gd name="connsiteY17" fmla="*/ 52755 h 396245"/>
                <a:gd name="connsiteX18" fmla="*/ 371476 w 371476"/>
                <a:gd name="connsiteY18" fmla="*/ 146119 h 396245"/>
                <a:gd name="connsiteX19" fmla="*/ 364046 w 371476"/>
                <a:gd name="connsiteY19" fmla="*/ 200478 h 396245"/>
                <a:gd name="connsiteX20" fmla="*/ 343863 w 371476"/>
                <a:gd name="connsiteY20" fmla="*/ 249389 h 396245"/>
                <a:gd name="connsiteX21" fmla="*/ 313774 w 371476"/>
                <a:gd name="connsiteY21" fmla="*/ 293100 h 396245"/>
                <a:gd name="connsiteX22" fmla="*/ 276626 w 371476"/>
                <a:gd name="connsiteY22" fmla="*/ 331238 h 396245"/>
                <a:gd name="connsiteX23" fmla="*/ 235145 w 371476"/>
                <a:gd name="connsiteY23" fmla="*/ 364423 h 396245"/>
                <a:gd name="connsiteX24" fmla="*/ 191930 w 371476"/>
                <a:gd name="connsiteY24" fmla="*/ 392036 h 396245"/>
                <a:gd name="connsiteX25" fmla="*/ 185738 w 371476"/>
                <a:gd name="connsiteY25" fmla="*/ 396246 h 396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71476" h="396245">
                  <a:moveTo>
                    <a:pt x="179300" y="392036"/>
                  </a:moveTo>
                  <a:cubicBezTo>
                    <a:pt x="164936" y="383863"/>
                    <a:pt x="150324" y="374329"/>
                    <a:pt x="136208" y="364423"/>
                  </a:cubicBezTo>
                  <a:cubicBezTo>
                    <a:pt x="121729" y="354202"/>
                    <a:pt x="107877" y="343120"/>
                    <a:pt x="94727" y="331238"/>
                  </a:cubicBezTo>
                  <a:cubicBezTo>
                    <a:pt x="81507" y="319369"/>
                    <a:pt x="69097" y="306627"/>
                    <a:pt x="57580" y="293100"/>
                  </a:cubicBezTo>
                  <a:cubicBezTo>
                    <a:pt x="46176" y="279525"/>
                    <a:pt x="36100" y="264887"/>
                    <a:pt x="27490" y="249389"/>
                  </a:cubicBezTo>
                  <a:cubicBezTo>
                    <a:pt x="18987" y="233891"/>
                    <a:pt x="12258" y="217483"/>
                    <a:pt x="7430" y="200478"/>
                  </a:cubicBezTo>
                  <a:cubicBezTo>
                    <a:pt x="2445" y="182791"/>
                    <a:pt x="-56" y="164496"/>
                    <a:pt x="1" y="146119"/>
                  </a:cubicBezTo>
                  <a:lnTo>
                    <a:pt x="1" y="53374"/>
                  </a:lnTo>
                  <a:lnTo>
                    <a:pt x="12383" y="53374"/>
                  </a:lnTo>
                  <a:cubicBezTo>
                    <a:pt x="31524" y="52183"/>
                    <a:pt x="50468" y="48818"/>
                    <a:pt x="68848" y="43344"/>
                  </a:cubicBezTo>
                  <a:cubicBezTo>
                    <a:pt x="86891" y="37927"/>
                    <a:pt x="104069" y="29963"/>
                    <a:pt x="119864" y="19694"/>
                  </a:cubicBezTo>
                  <a:cubicBezTo>
                    <a:pt x="129616" y="13322"/>
                    <a:pt x="140199" y="8322"/>
                    <a:pt x="151315" y="4835"/>
                  </a:cubicBezTo>
                  <a:cubicBezTo>
                    <a:pt x="162492" y="1551"/>
                    <a:pt x="174089" y="-76"/>
                    <a:pt x="185738" y="6"/>
                  </a:cubicBezTo>
                  <a:cubicBezTo>
                    <a:pt x="197471" y="-110"/>
                    <a:pt x="209155" y="1518"/>
                    <a:pt x="220409" y="4835"/>
                  </a:cubicBezTo>
                  <a:cubicBezTo>
                    <a:pt x="231633" y="8300"/>
                    <a:pt x="242307" y="13345"/>
                    <a:pt x="252109" y="19818"/>
                  </a:cubicBezTo>
                  <a:cubicBezTo>
                    <a:pt x="267933" y="30001"/>
                    <a:pt x="285106" y="37920"/>
                    <a:pt x="303125" y="43344"/>
                  </a:cubicBezTo>
                  <a:cubicBezTo>
                    <a:pt x="321369" y="48573"/>
                    <a:pt x="340143" y="51730"/>
                    <a:pt x="359093" y="52755"/>
                  </a:cubicBezTo>
                  <a:lnTo>
                    <a:pt x="371476" y="52755"/>
                  </a:lnTo>
                  <a:lnTo>
                    <a:pt x="371476" y="146119"/>
                  </a:lnTo>
                  <a:cubicBezTo>
                    <a:pt x="371533" y="164496"/>
                    <a:pt x="369032" y="182791"/>
                    <a:pt x="364046" y="200478"/>
                  </a:cubicBezTo>
                  <a:cubicBezTo>
                    <a:pt x="359179" y="217490"/>
                    <a:pt x="352408" y="233896"/>
                    <a:pt x="343863" y="249389"/>
                  </a:cubicBezTo>
                  <a:cubicBezTo>
                    <a:pt x="335297" y="264915"/>
                    <a:pt x="325219" y="279556"/>
                    <a:pt x="313774" y="293100"/>
                  </a:cubicBezTo>
                  <a:cubicBezTo>
                    <a:pt x="302257" y="306627"/>
                    <a:pt x="289846" y="319369"/>
                    <a:pt x="276626" y="331238"/>
                  </a:cubicBezTo>
                  <a:cubicBezTo>
                    <a:pt x="263539" y="343193"/>
                    <a:pt x="249682" y="354279"/>
                    <a:pt x="235145" y="364423"/>
                  </a:cubicBezTo>
                  <a:cubicBezTo>
                    <a:pt x="220781" y="374329"/>
                    <a:pt x="206293" y="383739"/>
                    <a:pt x="191930" y="392036"/>
                  </a:cubicBezTo>
                  <a:lnTo>
                    <a:pt x="185738" y="396246"/>
                  </a:lnTo>
                  <a:close/>
                </a:path>
              </a:pathLst>
            </a:custGeom>
            <a:solidFill>
              <a:srgbClr val="7030A0"/>
            </a:solidFill>
            <a:ln w="123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 noProof="0" dirty="0"/>
            </a:p>
          </p:txBody>
        </p:sp>
      </p:grpSp>
      <p:sp>
        <p:nvSpPr>
          <p:cNvPr id="38" name="AutoShape 25">
            <a:extLst>
              <a:ext uri="{FF2B5EF4-FFF2-40B4-BE49-F238E27FC236}">
                <a16:creationId xmlns:a16="http://schemas.microsoft.com/office/drawing/2014/main" id="{B73E861E-A402-4A35-87CC-9574BAADD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03238" y="6465888"/>
            <a:ext cx="52863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 noProof="0" dirty="0"/>
          </a:p>
        </p:txBody>
      </p:sp>
      <p:sp>
        <p:nvSpPr>
          <p:cNvPr id="60" name="CasellaDiTesto 24">
            <a:extLst>
              <a:ext uri="{FF2B5EF4-FFF2-40B4-BE49-F238E27FC236}">
                <a16:creationId xmlns:a16="http://schemas.microsoft.com/office/drawing/2014/main" id="{F0106BE8-49D0-4BB8-B40E-5BDEC2D1720A}"/>
              </a:ext>
            </a:extLst>
          </p:cNvPr>
          <p:cNvSpPr txBox="1"/>
          <p:nvPr/>
        </p:nvSpPr>
        <p:spPr>
          <a:xfrm>
            <a:off x="1307313" y="6389423"/>
            <a:ext cx="4417626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57"/>
              </a:lnSpc>
            </a:pPr>
            <a:r>
              <a:rPr lang="ro-RO" sz="1400" noProof="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Pentru a fi în s</a:t>
            </a:r>
            <a:r>
              <a:rPr lang="ro-RO" sz="14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iguranță, Web Guard Scanner vă oferă posibilitatea de a scana domenii întregi. Web Guard Scanner este un tool de Penetration Testing, însemnând că are rolul de a-i oferi echipei tale informații esențiale cu privire la starea website-ului.  </a:t>
            </a:r>
            <a:endParaRPr lang="ro-RO" sz="1400" noProof="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CE567616-1F3B-1877-4A7A-D17A3E9AA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026" y="4099469"/>
            <a:ext cx="2777581" cy="2777581"/>
          </a:xfrm>
          <a:prstGeom prst="rect">
            <a:avLst/>
          </a:prstGeom>
        </p:spPr>
      </p:pic>
      <p:sp>
        <p:nvSpPr>
          <p:cNvPr id="41" name="Freeform 27">
            <a:extLst>
              <a:ext uri="{FF2B5EF4-FFF2-40B4-BE49-F238E27FC236}">
                <a16:creationId xmlns:a16="http://schemas.microsoft.com/office/drawing/2014/main" id="{A361912A-0DA8-A68B-F60E-0139FB8D5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7" y="5657193"/>
            <a:ext cx="528637" cy="396245"/>
          </a:xfrm>
          <a:custGeom>
            <a:avLst/>
            <a:gdLst>
              <a:gd name="T0" fmla="*/ 102 w 102"/>
              <a:gd name="T1" fmla="*/ 60 h 79"/>
              <a:gd name="T2" fmla="*/ 102 w 102"/>
              <a:gd name="T3" fmla="*/ 3 h 79"/>
              <a:gd name="T4" fmla="*/ 99 w 102"/>
              <a:gd name="T5" fmla="*/ 0 h 79"/>
              <a:gd name="T6" fmla="*/ 3 w 102"/>
              <a:gd name="T7" fmla="*/ 0 h 79"/>
              <a:gd name="T8" fmla="*/ 0 w 102"/>
              <a:gd name="T9" fmla="*/ 3 h 79"/>
              <a:gd name="T10" fmla="*/ 0 w 102"/>
              <a:gd name="T11" fmla="*/ 60 h 79"/>
              <a:gd name="T12" fmla="*/ 3 w 102"/>
              <a:gd name="T13" fmla="*/ 64 h 79"/>
              <a:gd name="T14" fmla="*/ 47 w 102"/>
              <a:gd name="T15" fmla="*/ 64 h 79"/>
              <a:gd name="T16" fmla="*/ 47 w 102"/>
              <a:gd name="T17" fmla="*/ 73 h 79"/>
              <a:gd name="T18" fmla="*/ 31 w 102"/>
              <a:gd name="T19" fmla="*/ 73 h 79"/>
              <a:gd name="T20" fmla="*/ 31 w 102"/>
              <a:gd name="T21" fmla="*/ 79 h 79"/>
              <a:gd name="T22" fmla="*/ 70 w 102"/>
              <a:gd name="T23" fmla="*/ 79 h 79"/>
              <a:gd name="T24" fmla="*/ 70 w 102"/>
              <a:gd name="T25" fmla="*/ 73 h 79"/>
              <a:gd name="T26" fmla="*/ 55 w 102"/>
              <a:gd name="T27" fmla="*/ 73 h 79"/>
              <a:gd name="T28" fmla="*/ 55 w 102"/>
              <a:gd name="T29" fmla="*/ 64 h 79"/>
              <a:gd name="T30" fmla="*/ 99 w 102"/>
              <a:gd name="T31" fmla="*/ 64 h 79"/>
              <a:gd name="T32" fmla="*/ 102 w 102"/>
              <a:gd name="T33" fmla="*/ 6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2" h="79">
                <a:moveTo>
                  <a:pt x="102" y="60"/>
                </a:moveTo>
                <a:cubicBezTo>
                  <a:pt x="102" y="3"/>
                  <a:pt x="102" y="3"/>
                  <a:pt x="102" y="3"/>
                </a:cubicBezTo>
                <a:cubicBezTo>
                  <a:pt x="102" y="1"/>
                  <a:pt x="101" y="0"/>
                  <a:pt x="99" y="0"/>
                </a:cubicBezTo>
                <a:cubicBezTo>
                  <a:pt x="3" y="0"/>
                  <a:pt x="3" y="0"/>
                  <a:pt x="3" y="0"/>
                </a:cubicBezTo>
                <a:cubicBezTo>
                  <a:pt x="2" y="0"/>
                  <a:pt x="0" y="1"/>
                  <a:pt x="0" y="3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2"/>
                  <a:pt x="2" y="64"/>
                  <a:pt x="3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73"/>
                  <a:pt x="47" y="73"/>
                  <a:pt x="47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31" y="79"/>
                  <a:pt x="31" y="79"/>
                  <a:pt x="31" y="79"/>
                </a:cubicBezTo>
                <a:cubicBezTo>
                  <a:pt x="70" y="79"/>
                  <a:pt x="70" y="79"/>
                  <a:pt x="70" y="79"/>
                </a:cubicBezTo>
                <a:cubicBezTo>
                  <a:pt x="70" y="73"/>
                  <a:pt x="70" y="73"/>
                  <a:pt x="70" y="73"/>
                </a:cubicBezTo>
                <a:cubicBezTo>
                  <a:pt x="55" y="73"/>
                  <a:pt x="55" y="73"/>
                  <a:pt x="55" y="73"/>
                </a:cubicBezTo>
                <a:cubicBezTo>
                  <a:pt x="55" y="64"/>
                  <a:pt x="55" y="64"/>
                  <a:pt x="55" y="64"/>
                </a:cubicBezTo>
                <a:cubicBezTo>
                  <a:pt x="99" y="64"/>
                  <a:pt x="99" y="64"/>
                  <a:pt x="99" y="64"/>
                </a:cubicBezTo>
                <a:cubicBezTo>
                  <a:pt x="101" y="64"/>
                  <a:pt x="102" y="62"/>
                  <a:pt x="102" y="60"/>
                </a:cubicBezTo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 noProof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13B86C-169D-D3D8-C559-3D1205E73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71" y="5700313"/>
            <a:ext cx="249368" cy="24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5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5">
            <a:extLst>
              <a:ext uri="{FF2B5EF4-FFF2-40B4-BE49-F238E27FC236}">
                <a16:creationId xmlns:a16="http://schemas.microsoft.com/office/drawing/2014/main" id="{45B08FD9-54A2-4AB5-B4E8-B8B95AC881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7282" y="471714"/>
            <a:ext cx="9310976" cy="5775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2.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Soluție pentru problemă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sellaDiTesto 15">
            <a:extLst>
              <a:ext uri="{FF2B5EF4-FFF2-40B4-BE49-F238E27FC236}">
                <a16:creationId xmlns:a16="http://schemas.microsoft.com/office/drawing/2014/main" id="{D2ADE4C3-3D5D-4C87-BFDF-004D2271B914}"/>
              </a:ext>
            </a:extLst>
          </p:cNvPr>
          <p:cNvSpPr txBox="1"/>
          <p:nvPr/>
        </p:nvSpPr>
        <p:spPr>
          <a:xfrm>
            <a:off x="377282" y="1232316"/>
            <a:ext cx="93109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Web Guard Scanner </a:t>
            </a:r>
            <a:r>
              <a:rPr lang="ro-RO" sz="14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traversează tot domeniul pentru a găsi url-uri parametrizate, respectiv elemente HTML care permit input-urile utilizatorilor, care ulterior sunt testate prin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brute-forcing</a:t>
            </a:r>
            <a:r>
              <a:rPr lang="ro-RO" sz="14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cu diferite coduri injectabile numite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payload-uri</a:t>
            </a:r>
            <a:r>
              <a:rPr lang="ro-RO" sz="14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, generate de diferite tool-uri puternice de pen-testing.</a:t>
            </a:r>
            <a:endParaRPr lang="it-IT" sz="14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F8871B-A9BD-CC56-C2BF-B85D31510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82" y="2154052"/>
            <a:ext cx="3261933" cy="239606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D178DD-50B6-189B-D553-ACC321B880D6}"/>
              </a:ext>
            </a:extLst>
          </p:cNvPr>
          <p:cNvSpPr txBox="1"/>
          <p:nvPr/>
        </p:nvSpPr>
        <p:spPr>
          <a:xfrm>
            <a:off x="5175793" y="2780403"/>
            <a:ext cx="4505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Tool-urile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folosite de aplicație pentru a scana domeniul, respectiv subdomeniile (exclusiv utilizatorilor Pro), sunt: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sqlmap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 pentru vulnerabilități de tipul SQLi (SQL injection)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XSStrike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pentru vulnerabilități de tipul XSS (Cross-Site Scripting)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nmap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scanare de porturi și versiuni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wapiti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scanner puternic universal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subfinder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crawler puternic pentru subdomenii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Wafw00f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detector complex de WAF (Web Application Firewall)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Dirb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brute-forcing pentru directoarele website-ului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FFUF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– program puternic de fuzzing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12FF02-64CA-DC61-8C7E-7E79E4554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405" y="4904620"/>
            <a:ext cx="3272128" cy="239606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9D0A54-6C65-2E4C-70BC-189168E79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45" y="3506964"/>
            <a:ext cx="3261933" cy="244081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744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35">
            <a:extLst>
              <a:ext uri="{FF2B5EF4-FFF2-40B4-BE49-F238E27FC236}">
                <a16:creationId xmlns:a16="http://schemas.microsoft.com/office/drawing/2014/main" id="{FD7C7270-6286-438D-B619-68859E41E4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0141" y="471714"/>
            <a:ext cx="9310975" cy="5775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3. Structură și flux al prototipului</a:t>
            </a:r>
            <a:endParaRPr kumimoji="0" lang="ro-RO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CasellaDiTesto 35">
            <a:extLst>
              <a:ext uri="{FF2B5EF4-FFF2-40B4-BE49-F238E27FC236}">
                <a16:creationId xmlns:a16="http://schemas.microsoft.com/office/drawing/2014/main" id="{93A1F7F4-255B-43F9-AA0D-2091A57B8E23}"/>
              </a:ext>
            </a:extLst>
          </p:cNvPr>
          <p:cNvSpPr txBox="1"/>
          <p:nvPr/>
        </p:nvSpPr>
        <p:spPr>
          <a:xfrm>
            <a:off x="370357" y="1234229"/>
            <a:ext cx="9310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noProof="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Aplicația va fi construită în două </a:t>
            </a:r>
            <a:r>
              <a:rPr lang="ro-RO" sz="1400" b="1" noProof="0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framework-uri puternice și de actualitate</a:t>
            </a:r>
            <a:r>
              <a:rPr lang="ro-RO" sz="1400" noProof="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o-RO" sz="1400" b="1" noProof="0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Django</a:t>
            </a:r>
            <a:r>
              <a:rPr lang="ro-RO" sz="1400" noProof="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, pentru simplicitate a script-urilor, dar si modernitate și putere, respectiv </a:t>
            </a:r>
            <a:r>
              <a:rPr lang="ro-RO" sz="1400" b="1" noProof="0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Flutter</a:t>
            </a:r>
            <a:r>
              <a:rPr lang="ro-RO" sz="1400" noProof="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, un framework puternic de frontend dezvoltat de Google.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1615B-6C11-1879-BB08-59B7014D7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41" y="2435196"/>
            <a:ext cx="5769374" cy="2687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EAA1A-CC7D-4C8A-26B0-F2AAC3FB1E75}"/>
              </a:ext>
            </a:extLst>
          </p:cNvPr>
          <p:cNvSpPr txBox="1"/>
          <p:nvPr/>
        </p:nvSpPr>
        <p:spPr>
          <a:xfrm>
            <a:off x="370141" y="1942434"/>
            <a:ext cx="5762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noProof="0" dirty="0">
                <a:latin typeface="Segoe UI" panose="020B0502040204020203" pitchFamily="34" charset="0"/>
                <a:cs typeface="Segoe UI" panose="020B0502040204020203" pitchFamily="34" charset="0"/>
              </a:rPr>
              <a:t>Modelul de date și logica principală a sistemului (</a:t>
            </a:r>
            <a:r>
              <a:rPr lang="ro-RO" sz="1400" b="1" noProof="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clase</a:t>
            </a:r>
            <a:r>
              <a:rPr lang="ro-RO" sz="1400" noProof="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885CE-8A81-6535-4A43-5C4584DB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56" y="5307182"/>
            <a:ext cx="4663538" cy="2366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5E298-49C9-7600-4035-207C2310B104}"/>
              </a:ext>
            </a:extLst>
          </p:cNvPr>
          <p:cNvSpPr txBox="1"/>
          <p:nvPr/>
        </p:nvSpPr>
        <p:spPr>
          <a:xfrm>
            <a:off x="370141" y="5717974"/>
            <a:ext cx="2651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Instanțierea</a:t>
            </a:r>
            <a:r>
              <a:rPr lang="ro-RO" sz="1400" noProof="0" dirty="0">
                <a:latin typeface="Segoe UI" panose="020B0502040204020203" pitchFamily="34" charset="0"/>
                <a:cs typeface="Segoe UI" panose="020B0502040204020203" pitchFamily="34" charset="0"/>
              </a:rPr>
              <a:t> claselor în sistem (</a:t>
            </a:r>
            <a:r>
              <a:rPr lang="ro-RO" sz="1400" b="1" noProof="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obiecte</a:t>
            </a:r>
            <a:r>
              <a:rPr lang="ro-RO" sz="1400" noProof="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3F62A-9904-C74B-4EA5-517FFB3CB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853" y="2914810"/>
            <a:ext cx="2301882" cy="20392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1C0298-1EC5-B42B-99EB-8EA8D4DFEC2B}"/>
              </a:ext>
            </a:extLst>
          </p:cNvPr>
          <p:cNvSpPr txBox="1"/>
          <p:nvPr/>
        </p:nvSpPr>
        <p:spPr>
          <a:xfrm>
            <a:off x="6589110" y="2300890"/>
            <a:ext cx="2651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noProof="0" dirty="0">
                <a:latin typeface="Segoe UI" panose="020B0502040204020203" pitchFamily="34" charset="0"/>
                <a:cs typeface="Segoe UI" panose="020B0502040204020203" pitchFamily="34" charset="0"/>
              </a:rPr>
              <a:t>Pachetele modulului (</a:t>
            </a:r>
            <a:r>
              <a:rPr lang="ro-RO" sz="1400" b="1" noProof="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pachete</a:t>
            </a:r>
            <a:r>
              <a:rPr lang="ro-RO" sz="1400" noProof="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346620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053DD-B3FB-9E00-D43B-7B8EB67A92C8}"/>
              </a:ext>
            </a:extLst>
          </p:cNvPr>
          <p:cNvSpPr txBox="1"/>
          <p:nvPr/>
        </p:nvSpPr>
        <p:spPr>
          <a:xfrm>
            <a:off x="714052" y="339047"/>
            <a:ext cx="487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Secvențele principale ale aplicației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secvență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06DFE-1D37-0BD1-F207-C8DC85C8F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03" y="814003"/>
            <a:ext cx="7550991" cy="3304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049B5E-9A1F-E2C1-87A1-CBF2A885E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7" y="4760948"/>
            <a:ext cx="8068801" cy="2753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132812-9ED6-92E6-1696-4565B2ACE14D}"/>
              </a:ext>
            </a:extLst>
          </p:cNvPr>
          <p:cNvSpPr txBox="1"/>
          <p:nvPr/>
        </p:nvSpPr>
        <p:spPr>
          <a:xfrm>
            <a:off x="714053" y="4285992"/>
            <a:ext cx="5825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Arhitectura generală a sistemului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diagramă de arhitectură generală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9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9AC4-D3DD-8F96-244D-B922B935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F0B6E-E1DF-208F-5159-E9B4655C6871}"/>
              </a:ext>
            </a:extLst>
          </p:cNvPr>
          <p:cNvSpPr txBox="1"/>
          <p:nvPr/>
        </p:nvSpPr>
        <p:spPr>
          <a:xfrm>
            <a:off x="4505274" y="1463976"/>
            <a:ext cx="4032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Fluxul principal al aplicației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flux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E1985-7FF0-524C-36E4-D151CC39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274" y="1773053"/>
            <a:ext cx="4329675" cy="3988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91B5A7-AC6A-8A3D-C86B-E03C2E33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9" y="3886200"/>
            <a:ext cx="5111856" cy="3305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4EB29D-8FA5-5909-2568-7DB2DD117916}"/>
              </a:ext>
            </a:extLst>
          </p:cNvPr>
          <p:cNvSpPr txBox="1"/>
          <p:nvPr/>
        </p:nvSpPr>
        <p:spPr>
          <a:xfrm>
            <a:off x="268839" y="3340931"/>
            <a:ext cx="4032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Tranzițiile stărilor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stări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98C62-E910-68E9-9A76-7302531A2E3A}"/>
              </a:ext>
            </a:extLst>
          </p:cNvPr>
          <p:cNvSpPr txBox="1"/>
          <p:nvPr/>
        </p:nvSpPr>
        <p:spPr>
          <a:xfrm>
            <a:off x="565905" y="421016"/>
            <a:ext cx="5341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Prototipul dezvoltat trece prin mai multe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stări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predefinite și urmează un set de pași conform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fluxului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 ales: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26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CCFC-681F-8AC5-7474-122217EB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31EE95-A47E-F9A5-CB7A-7EBEBB2B77EF}"/>
              </a:ext>
            </a:extLst>
          </p:cNvPr>
          <p:cNvSpPr txBox="1"/>
          <p:nvPr/>
        </p:nvSpPr>
        <p:spPr>
          <a:xfrm>
            <a:off x="565905" y="421016"/>
            <a:ext cx="5629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Activitatea aplicației este impărțită în două componente: activitatea scanării și activitatea autentificării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activitate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   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962D70-280A-E8B8-1617-C04AE0557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523" y="944236"/>
            <a:ext cx="4215274" cy="5548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E718DB-AD8E-6D61-E226-EDE345547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7" y="944236"/>
            <a:ext cx="4499465" cy="59466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CBFCB-BEF2-6EA8-5711-99DA9B5F1F38}"/>
              </a:ext>
            </a:extLst>
          </p:cNvPr>
          <p:cNvSpPr txBox="1"/>
          <p:nvPr/>
        </p:nvSpPr>
        <p:spPr>
          <a:xfrm>
            <a:off x="3833565" y="1442698"/>
            <a:ext cx="2321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Activitatea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autentificării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AF3BD-CDAF-B025-D916-8C5269387869}"/>
              </a:ext>
            </a:extLst>
          </p:cNvPr>
          <p:cNvSpPr txBox="1"/>
          <p:nvPr/>
        </p:nvSpPr>
        <p:spPr>
          <a:xfrm>
            <a:off x="419603" y="1442699"/>
            <a:ext cx="176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Activitatea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scanării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25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951A0FF-29EF-6839-1B3E-7102EDFF9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56" y="790347"/>
            <a:ext cx="6222287" cy="2162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B31C0A-49CF-FA5C-103A-AEC897FA5F5F}"/>
              </a:ext>
            </a:extLst>
          </p:cNvPr>
          <p:cNvSpPr txBox="1"/>
          <p:nvPr/>
        </p:nvSpPr>
        <p:spPr>
          <a:xfrm>
            <a:off x="2039862" y="1030341"/>
            <a:ext cx="197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Comunicarea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scanării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B882C-4607-D1EA-49ED-AFA4AD9E8692}"/>
              </a:ext>
            </a:extLst>
          </p:cNvPr>
          <p:cNvSpPr txBox="1"/>
          <p:nvPr/>
        </p:nvSpPr>
        <p:spPr>
          <a:xfrm>
            <a:off x="2039862" y="2645070"/>
            <a:ext cx="2321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Comunicare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autentificării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1727F1A-0343-4C75-04DA-CE8B7044D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62" y="3038807"/>
            <a:ext cx="5978676" cy="2162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028518-CB5C-CB99-BC39-F7D5B10D0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154" y="5350043"/>
            <a:ext cx="5309290" cy="2158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D294B7-2900-9B80-A1CB-1184082CF844}"/>
              </a:ext>
            </a:extLst>
          </p:cNvPr>
          <p:cNvSpPr txBox="1"/>
          <p:nvPr/>
        </p:nvSpPr>
        <p:spPr>
          <a:xfrm>
            <a:off x="565904" y="421016"/>
            <a:ext cx="751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Comunicarea cu modulele prototipului este impărțită pe 3 arii: scanare, autentificare, abonare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diagramă de comunicare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8BB2D-841E-BE55-FB46-595EF6AAFE61}"/>
              </a:ext>
            </a:extLst>
          </p:cNvPr>
          <p:cNvSpPr txBox="1"/>
          <p:nvPr/>
        </p:nvSpPr>
        <p:spPr>
          <a:xfrm>
            <a:off x="2157154" y="5436003"/>
            <a:ext cx="2321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Comunicare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abonării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05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437A-4830-0A55-CEA6-ACB95BDA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86821B-35B0-0BE3-7329-DDC4A156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49" y="752829"/>
            <a:ext cx="4451702" cy="6266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CAC4CF-7F6B-0646-28AD-F54F9440CD03}"/>
              </a:ext>
            </a:extLst>
          </p:cNvPr>
          <p:cNvSpPr txBox="1"/>
          <p:nvPr/>
        </p:nvSpPr>
        <p:spPr>
          <a:xfrm>
            <a:off x="565904" y="421016"/>
            <a:ext cx="751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Privind din ansamblu, prototipul va urma următoare schiță de interacțiune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diagramă de interacțiune de ansamblu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2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E8921-9725-94F2-5C03-8C4452D7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9F874C-BC4D-C3C5-483E-B9EDF1E857AB}"/>
              </a:ext>
            </a:extLst>
          </p:cNvPr>
          <p:cNvSpPr txBox="1"/>
          <p:nvPr/>
        </p:nvSpPr>
        <p:spPr>
          <a:xfrm>
            <a:off x="565904" y="421016"/>
            <a:ext cx="751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Pentru a menține persistența datelor utilizatorilor se va folosi o bază de date de tip MySQL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diagramă de bază de date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EE2B4-BA7B-1D9E-5C47-1851F3D8B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3" y="1723723"/>
            <a:ext cx="7154273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7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46ADE-6A74-4417-61A6-68285744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097B77-7E4F-9F33-1635-05C658B254BF}"/>
              </a:ext>
            </a:extLst>
          </p:cNvPr>
          <p:cNvSpPr txBox="1"/>
          <p:nvPr/>
        </p:nvSpPr>
        <p:spPr>
          <a:xfrm>
            <a:off x="5029200" y="1455896"/>
            <a:ext cx="2321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Utilizator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Professional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D374B-479D-5CF9-D397-4DD23BD456FF}"/>
              </a:ext>
            </a:extLst>
          </p:cNvPr>
          <p:cNvSpPr txBox="1"/>
          <p:nvPr/>
        </p:nvSpPr>
        <p:spPr>
          <a:xfrm>
            <a:off x="565904" y="421016"/>
            <a:ext cx="7519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Prototipul va avea 2 tipuri de clienți: utilizatori obișnuiți și utilizatori Professional. În funcție de tipul de client, sistemul va avea opțiuni diferite pentru scanări mai puternice (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diagramă de use-case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5D8E4-DE75-014D-E975-FA7394C7E471}"/>
              </a:ext>
            </a:extLst>
          </p:cNvPr>
          <p:cNvSpPr txBox="1"/>
          <p:nvPr/>
        </p:nvSpPr>
        <p:spPr>
          <a:xfrm>
            <a:off x="565904" y="1455896"/>
            <a:ext cx="2321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Utilizator </a:t>
            </a:r>
            <a:r>
              <a:rPr lang="ro-RO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obișnuit</a:t>
            </a:r>
            <a:r>
              <a:rPr lang="ro-RO" sz="1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29464-B411-C331-1B00-185E2C341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64" y="2206292"/>
            <a:ext cx="4344006" cy="40677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C2A3AF-8467-D964-FAC3-590F9A86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63673"/>
            <a:ext cx="3900012" cy="503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1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 ways to stay safe online - 2020 update" id="{2A8F8DAB-17D1-4218-86A4-892186A98437}" vid="{CF752E29-56EF-42C3-8AE1-162D9E00FC0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STS_x0020_Hashtags xmlns="34f92d76-972f-40f7-83ba-9ff99395c1e2"/>
    <_ip_UnifiedCompliancePolicyProperties xmlns="http://schemas.microsoft.com/sharepoint/v3" xsi:nil="true"/>
    <MediaServiceKeyPoints xmlns="34f92d76-972f-40f7-83ba-9ff99395c1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960AAC9CB38E4D8644DE30D1FEB539" ma:contentTypeVersion="19" ma:contentTypeDescription="Create a new document." ma:contentTypeScope="" ma:versionID="2bead677cef3b09207ed509027f3cc3e">
  <xsd:schema xmlns:xsd="http://www.w3.org/2001/XMLSchema" xmlns:xs="http://www.w3.org/2001/XMLSchema" xmlns:p="http://schemas.microsoft.com/office/2006/metadata/properties" xmlns:ns1="http://schemas.microsoft.com/sharepoint/v3" xmlns:ns3="3d66f52e-af98-460a-93ca-ddf37d61e5d6" xmlns:ns4="34f92d76-972f-40f7-83ba-9ff99395c1e2" targetNamespace="http://schemas.microsoft.com/office/2006/metadata/properties" ma:root="true" ma:fieldsID="295acc4d4c993f921b621d6233a89d61" ns1:_="" ns3:_="" ns4:_="">
    <xsd:import namespace="http://schemas.microsoft.com/sharepoint/v3"/>
    <xsd:import namespace="3d66f52e-af98-460a-93ca-ddf37d61e5d6"/>
    <xsd:import namespace="34f92d76-972f-40f7-83ba-9ff99395c1e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_STS_x0020_Hashtags" minOccurs="0"/>
                <xsd:element ref="ns3:_STS_x0020_AppliedHashtags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6f52e-af98-460a-93ca-ddf37d61e5d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2" nillable="true" ma:displayName="Last Shared By Time" ma:description="" ma:hidden="true" ma:internalName="LastSharedByTime" ma:readOnly="true">
      <xsd:simpleType>
        <xsd:restriction base="dms:DateTime"/>
      </xsd:simpleType>
    </xsd:element>
    <xsd:element name="_STS_x0020_AppliedHashtags" ma:index="17" nillable="true" ma:displayName="Applied Hashtags" ma:description="" ma:internalName="_STS_x0020_AppliedHashtags" ma:readOnly="true" ma:showField="Titl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f92d76-972f-40f7-83ba-9ff99395c1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_STS_x0020_Hashtags" ma:index="16" nillable="true" ma:displayName="Hashtags" ma:description="" ma:list="{02514a76-954f-4a58-a108-ce755d61aca7}" ma:internalName="_STS_x0020_Hashtags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AutoTags" ma:index="18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9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6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74C58F-4A19-4194-A5AC-1B7A48193F3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4f92d76-972f-40f7-83ba-9ff99395c1e2"/>
  </ds:schemaRefs>
</ds:datastoreItem>
</file>

<file path=customXml/itemProps2.xml><?xml version="1.0" encoding="utf-8"?>
<ds:datastoreItem xmlns:ds="http://schemas.openxmlformats.org/officeDocument/2006/customXml" ds:itemID="{ED8C8AB5-384A-46A7-8A1F-A6A91F154A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66f52e-af98-460a-93ca-ddf37d61e5d6"/>
    <ds:schemaRef ds:uri="34f92d76-972f-40f7-83ba-9ff99395c1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596F9F-BD71-4894-B68F-EE12B0B747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 ways to stay safe online</Template>
  <TotalTime>332</TotalTime>
  <Words>568</Words>
  <Application>Microsoft Office PowerPoint</Application>
  <PresentationFormat>Custom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Pro</vt:lpstr>
      <vt:lpstr>Segoe UI</vt:lpstr>
      <vt:lpstr>Segoe UI Semibold</vt:lpstr>
      <vt:lpstr>Office Theme</vt:lpstr>
      <vt:lpstr>1. Evită infrastructură slabă și vulnerabilă</vt:lpstr>
      <vt:lpstr>2. Soluție pentru problemă </vt:lpstr>
      <vt:lpstr>3. Structură și flux al prototipului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Reti Antonio</dc:creator>
  <cp:lastModifiedBy>Reti Antonio</cp:lastModifiedBy>
  <cp:revision>2</cp:revision>
  <dcterms:created xsi:type="dcterms:W3CDTF">2025-11-22T16:02:06Z</dcterms:created>
  <dcterms:modified xsi:type="dcterms:W3CDTF">2025-11-23T16:21:16Z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0x01010043960AAC9CB38E4D8644DE30D1FEB539</vt:lpwstr>
  </property>
</Properties>
</file>